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8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6858000" cx="9144000"/>
  <p:notesSz cx="6858000" cy="9144000"/>
  <p:embeddedFontLst>
    <p:embeddedFont>
      <p:font typeface="Roboto Medium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PT Sans Narrow"/>
      <p:regular r:id="rId32"/>
      <p:bold r:id="rId33"/>
    </p:embeddedFont>
    <p:embeddedFont>
      <p:font typeface="Average"/>
      <p:regular r:id="rId34"/>
    </p:embeddedFont>
    <p:embeddedFont>
      <p:font typeface="Francois One"/>
      <p:regular r:id="rId35"/>
    </p:embeddedFont>
    <p:embeddedFont>
      <p:font typeface="Roboto Light"/>
      <p:regular r:id="rId36"/>
      <p:bold r:id="rId37"/>
      <p:italic r:id="rId38"/>
      <p:boldItalic r:id="rId39"/>
    </p:embeddedFont>
    <p:embeddedFont>
      <p:font typeface="Helvetica Neue"/>
      <p:regular r:id="rId40"/>
      <p:bold r:id="rId41"/>
      <p:italic r:id="rId42"/>
      <p:boldItalic r:id="rId43"/>
    </p:embeddedFont>
    <p:embeddedFont>
      <p:font typeface="Oswald"/>
      <p:regular r:id="rId44"/>
      <p:bold r:id="rId45"/>
    </p:embeddedFont>
    <p:embeddedFont>
      <p:font typeface="Roboto Mono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4" roundtripDataSignature="AMtx7mg8uxrKBaqa6BTXy40/cJ26OHlF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regular.fntdata"/><Relationship Id="rId42" Type="http://schemas.openxmlformats.org/officeDocument/2006/relationships/font" Target="fonts/HelveticaNeue-italic.fntdata"/><Relationship Id="rId41" Type="http://schemas.openxmlformats.org/officeDocument/2006/relationships/font" Target="fonts/HelveticaNeue-bold.fntdata"/><Relationship Id="rId44" Type="http://schemas.openxmlformats.org/officeDocument/2006/relationships/font" Target="fonts/Oswald-regular.fntdata"/><Relationship Id="rId43" Type="http://schemas.openxmlformats.org/officeDocument/2006/relationships/font" Target="fonts/HelveticaNeue-boldItalic.fntdata"/><Relationship Id="rId46" Type="http://schemas.openxmlformats.org/officeDocument/2006/relationships/font" Target="fonts/RobotoMono-regular.fntdata"/><Relationship Id="rId45" Type="http://schemas.openxmlformats.org/officeDocument/2006/relationships/font" Target="fonts/Oswa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RobotoMono-italic.fntdata"/><Relationship Id="rId47" Type="http://schemas.openxmlformats.org/officeDocument/2006/relationships/font" Target="fonts/RobotoMono-bold.fntdata"/><Relationship Id="rId49" Type="http://schemas.openxmlformats.org/officeDocument/2006/relationships/font" Target="fonts/RobotoMono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PTSansNarrow-bold.fntdata"/><Relationship Id="rId32" Type="http://schemas.openxmlformats.org/officeDocument/2006/relationships/font" Target="fonts/PTSansNarrow-regular.fntdata"/><Relationship Id="rId35" Type="http://schemas.openxmlformats.org/officeDocument/2006/relationships/font" Target="fonts/FrancoisOne-regular.fntdata"/><Relationship Id="rId34" Type="http://schemas.openxmlformats.org/officeDocument/2006/relationships/font" Target="fonts/Average-regular.fntdata"/><Relationship Id="rId37" Type="http://schemas.openxmlformats.org/officeDocument/2006/relationships/font" Target="fonts/RobotoLight-bold.fntdata"/><Relationship Id="rId36" Type="http://schemas.openxmlformats.org/officeDocument/2006/relationships/font" Target="fonts/RobotoLight-regular.fntdata"/><Relationship Id="rId39" Type="http://schemas.openxmlformats.org/officeDocument/2006/relationships/font" Target="fonts/RobotoLight-boldItalic.fntdata"/><Relationship Id="rId38" Type="http://schemas.openxmlformats.org/officeDocument/2006/relationships/font" Target="fonts/RobotoLight-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Medium-regular.fntdata"/><Relationship Id="rId23" Type="http://schemas.openxmlformats.org/officeDocument/2006/relationships/slide" Target="slides/slide16.xml"/><Relationship Id="rId26" Type="http://schemas.openxmlformats.org/officeDocument/2006/relationships/font" Target="fonts/RobotoMedium-italic.fntdata"/><Relationship Id="rId25" Type="http://schemas.openxmlformats.org/officeDocument/2006/relationships/font" Target="fonts/RobotoMedium-bold.fntdata"/><Relationship Id="rId28" Type="http://schemas.openxmlformats.org/officeDocument/2006/relationships/font" Target="fonts/Roboto-regular.fntdata"/><Relationship Id="rId27" Type="http://schemas.openxmlformats.org/officeDocument/2006/relationships/font" Target="fonts/RobotoMedium-boldItalic.fntdata"/><Relationship Id="rId29" Type="http://schemas.openxmlformats.org/officeDocument/2006/relationships/font" Target="fonts/Roboto-bold.fntdata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54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ools.ietf.org/html/rfc1519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Ask, e.g. “how is project 1b going?”; “thoughts?”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Jaewon note to self: this set of slides relatively short, so we have more time compared to last time; also will try to remember names lol when ppl raising their hands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 that this is covered in lecture 8 from last Tuesday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flooding = quickly send updates to all other nodes in the network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Every router in the topology: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○ Gets the state of all links and the location of all destinations.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■ Need some way to distribute this graph!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○ Uses that information to build a full graph.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■ Glue together all link/destination information received.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○ Finds paths from itself to every destination on the graph.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■ Run some algorithm over the graph.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○ Uses the next-hop (adjacent router) in those paths to populate the forwarding table.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compare/contrast:</a:t>
            </a:r>
            <a:br>
              <a:rPr lang="en"/>
            </a:br>
            <a:br>
              <a:rPr lang="en"/>
            </a:br>
            <a:r>
              <a:rPr lang="en"/>
              <a:t>DV: global computation (distributed across all nodes) using local data</a:t>
            </a:r>
            <a:br>
              <a:rPr lang="en"/>
            </a:br>
            <a:r>
              <a:rPr lang="en"/>
              <a:t>LS: local computation using global data/view (state of every link in network; own view of world, not just neighbors)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“global data”?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○ The state of every link in the network.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○ Is it up or down?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○ What is its cost?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-how to recognize? (MAC address for L2, IP address for L3)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CHANGELOG (02/24/2025):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Changed 1.2.3.0/23 in the example to 1.2.2.0/23 (bit 24 under ideal prefix convention should be set to 0, not 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form- network:host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-routers ignore host part of address, hosts recognize packets are for them with host part of address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-called “slash notation”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-deprecated since the publication of </a:t>
            </a:r>
            <a:r>
              <a:rPr b="0" i="0" lang="en" sz="1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RFC 1519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in 1993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-Class A far too big for most organizations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-Class C far too small for many organizations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-Class B is best option for many (still too big for many organizations and not that many of them)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-make the number of fixed bits arbitrary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-allows more granular assignment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much wasted address space could there be? (50%)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-This is more or less aggregation: multiple network addresses (5.6.7.*) being routed to the same output port, so aggregate them into a common entry (5.6.7.0/24)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 shared prefix (makes table less cluttered)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28f25040a0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28f25040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B6D7A8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8"/>
          <p:cNvGrpSpPr/>
          <p:nvPr/>
        </p:nvGrpSpPr>
        <p:grpSpPr>
          <a:xfrm>
            <a:off x="4350277" y="3807171"/>
            <a:ext cx="443589" cy="140843"/>
            <a:chOff x="4137525" y="2915950"/>
            <a:chExt cx="869100" cy="207000"/>
          </a:xfrm>
        </p:grpSpPr>
        <p:sp>
          <p:nvSpPr>
            <p:cNvPr id="11" name="Google Shape;11;p18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rgbClr val="0C34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8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rgbClr val="0C34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8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rgbClr val="0C34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18"/>
          <p:cNvSpPr txBox="1"/>
          <p:nvPr>
            <p:ph type="ctrTitle"/>
          </p:nvPr>
        </p:nvSpPr>
        <p:spPr>
          <a:xfrm>
            <a:off x="671258" y="1321067"/>
            <a:ext cx="7801500" cy="230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" type="subTitle"/>
          </p:nvPr>
        </p:nvSpPr>
        <p:spPr>
          <a:xfrm>
            <a:off x="671250" y="4233168"/>
            <a:ext cx="78015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490250" y="701800"/>
            <a:ext cx="62271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73763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73763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73763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73763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73763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73763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73763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800"/>
              <a:buFont typeface="Francois One"/>
              <a:buNone/>
              <a:defRPr b="0" i="0" sz="4800" u="none" cap="none" strike="noStrike">
                <a:solidFill>
                  <a:srgbClr val="073763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C343D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2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6"/>
          <p:cNvSpPr txBox="1"/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C343D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C343D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400"/>
              <a:buFont typeface="Francois One"/>
              <a:buNone/>
              <a:defRPr b="0" i="0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400"/>
              <a:buFont typeface="Francois One"/>
              <a:buNone/>
              <a:defRPr b="0" i="0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400"/>
              <a:buFont typeface="Francois One"/>
              <a:buNone/>
              <a:defRPr b="0" i="0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400"/>
              <a:buFont typeface="Francois One"/>
              <a:buNone/>
              <a:defRPr b="0" i="0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400"/>
              <a:buFont typeface="Francois One"/>
              <a:buNone/>
              <a:defRPr b="0" i="0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400"/>
              <a:buFont typeface="Francois One"/>
              <a:buNone/>
              <a:defRPr b="0" i="0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400"/>
              <a:buFont typeface="Francois One"/>
              <a:buNone/>
              <a:defRPr b="0" i="0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400"/>
              <a:buFont typeface="Francois One"/>
              <a:buNone/>
              <a:defRPr b="0" i="0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400"/>
              <a:buFont typeface="Francois One"/>
              <a:buNone/>
              <a:defRPr b="0" i="0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34" name="Google Shape;34;p28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C343D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28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38" name="Google Shape;38;p29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0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30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30"/>
          <p:cNvSpPr txBox="1"/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200"/>
              <a:buFont typeface="Francois One"/>
              <a:buNone/>
              <a:defRPr b="0" i="0" sz="42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200"/>
              <a:buFont typeface="Francois One"/>
              <a:buNone/>
              <a:defRPr b="0" i="0" sz="42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200"/>
              <a:buFont typeface="Francois One"/>
              <a:buNone/>
              <a:defRPr b="0" i="0" sz="42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200"/>
              <a:buFont typeface="Francois One"/>
              <a:buNone/>
              <a:defRPr b="0" i="0" sz="42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200"/>
              <a:buFont typeface="Francois One"/>
              <a:buNone/>
              <a:defRPr b="0" i="0" sz="42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200"/>
              <a:buFont typeface="Francois One"/>
              <a:buNone/>
              <a:defRPr b="0" i="0" sz="42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200"/>
              <a:buFont typeface="Francois One"/>
              <a:buNone/>
              <a:defRPr b="0" i="0" sz="42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200"/>
              <a:buFont typeface="Francois One"/>
              <a:buNone/>
              <a:defRPr b="0" i="0" sz="42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200"/>
              <a:buFont typeface="Francois One"/>
              <a:buNone/>
              <a:defRPr b="0" i="0" sz="42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43" name="Google Shape;43;p30"/>
          <p:cNvSpPr txBox="1"/>
          <p:nvPr>
            <p:ph idx="1" type="subTitle"/>
          </p:nvPr>
        </p:nvSpPr>
        <p:spPr>
          <a:xfrm>
            <a:off x="265500" y="3793601"/>
            <a:ext cx="40452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30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30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1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b="0" i="0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hasCustomPrompt="1" type="title"/>
          </p:nvPr>
        </p:nvSpPr>
        <p:spPr>
          <a:xfrm>
            <a:off x="311700" y="1673700"/>
            <a:ext cx="8520600" cy="252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2000"/>
              <a:buFont typeface="Francois One"/>
              <a:buNone/>
              <a:defRPr b="0" i="0" sz="12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2000"/>
              <a:buFont typeface="Francois One"/>
              <a:buNone/>
              <a:defRPr b="0" i="0" sz="12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2000"/>
              <a:buFont typeface="Francois One"/>
              <a:buNone/>
              <a:defRPr b="0" i="0" sz="12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2000"/>
              <a:buFont typeface="Francois One"/>
              <a:buNone/>
              <a:defRPr b="0" i="0" sz="12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2000"/>
              <a:buFont typeface="Francois One"/>
              <a:buNone/>
              <a:defRPr b="0" i="0" sz="12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2000"/>
              <a:buFont typeface="Francois One"/>
              <a:buNone/>
              <a:defRPr b="0" i="0" sz="12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2000"/>
              <a:buFont typeface="Francois One"/>
              <a:buNone/>
              <a:defRPr b="0" i="0" sz="12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2000"/>
              <a:buFont typeface="Francois One"/>
              <a:buNone/>
              <a:defRPr b="0" i="0" sz="12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2000"/>
              <a:buFont typeface="Francois One"/>
              <a:buNone/>
              <a:defRPr b="0" i="0" sz="12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32"/>
          <p:cNvSpPr txBox="1"/>
          <p:nvPr>
            <p:ph idx="1" type="body"/>
          </p:nvPr>
        </p:nvSpPr>
        <p:spPr>
          <a:xfrm>
            <a:off x="311700" y="43045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C343D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3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4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1" name="Google Shape;61;p34"/>
          <p:cNvCxnSpPr/>
          <p:nvPr/>
        </p:nvCxnSpPr>
        <p:spPr>
          <a:xfrm>
            <a:off x="0" y="6825153"/>
            <a:ext cx="9144000" cy="0"/>
          </a:xfrm>
          <a:prstGeom prst="straightConnector1">
            <a:avLst/>
          </a:prstGeom>
          <a:noFill/>
          <a:ln cap="flat" cmpd="sng" w="1270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2" name="Google Shape;72;p20"/>
          <p:cNvCxnSpPr/>
          <p:nvPr/>
        </p:nvCxnSpPr>
        <p:spPr>
          <a:xfrm>
            <a:off x="0" y="6825153"/>
            <a:ext cx="9144000" cy="0"/>
          </a:xfrm>
          <a:prstGeom prst="straightConnector1">
            <a:avLst/>
          </a:prstGeom>
          <a:noFill/>
          <a:ln cap="flat" cmpd="sng" w="1270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5" name="Google Shape;75;p45"/>
          <p:cNvSpPr txBox="1"/>
          <p:nvPr>
            <p:ph idx="1" type="subTitle"/>
          </p:nvPr>
        </p:nvSpPr>
        <p:spPr>
          <a:xfrm>
            <a:off x="311700" y="3778833"/>
            <a:ext cx="85206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46"/>
          <p:cNvSpPr txBox="1"/>
          <p:nvPr>
            <p:ph idx="1" type="subTitle"/>
          </p:nvPr>
        </p:nvSpPr>
        <p:spPr>
          <a:xfrm>
            <a:off x="311700" y="3778833"/>
            <a:ext cx="85206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7"/>
          <p:cNvSpPr txBox="1"/>
          <p:nvPr>
            <p:ph type="title"/>
          </p:nvPr>
        </p:nvSpPr>
        <p:spPr>
          <a:xfrm>
            <a:off x="0" y="0"/>
            <a:ext cx="9144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" type="body"/>
          </p:nvPr>
        </p:nvSpPr>
        <p:spPr>
          <a:xfrm>
            <a:off x="107050" y="536267"/>
            <a:ext cx="8909700" cy="60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4" name="Google Shape;84;p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5" name="Google Shape;85;p47"/>
          <p:cNvCxnSpPr/>
          <p:nvPr/>
        </p:nvCxnSpPr>
        <p:spPr>
          <a:xfrm>
            <a:off x="95431" y="53628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8"/>
          <p:cNvSpPr/>
          <p:nvPr/>
        </p:nvSpPr>
        <p:spPr>
          <a:xfrm>
            <a:off x="0" y="-167"/>
            <a:ext cx="4572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48"/>
          <p:cNvSpPr txBox="1"/>
          <p:nvPr>
            <p:ph idx="1" type="body"/>
          </p:nvPr>
        </p:nvSpPr>
        <p:spPr>
          <a:xfrm>
            <a:off x="4812375" y="536264"/>
            <a:ext cx="3999900" cy="56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0" name="Google Shape;90;p48"/>
          <p:cNvSpPr txBox="1"/>
          <p:nvPr>
            <p:ph type="title"/>
          </p:nvPr>
        </p:nvSpPr>
        <p:spPr>
          <a:xfrm>
            <a:off x="177925" y="2671067"/>
            <a:ext cx="4038000" cy="271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91" name="Google Shape;91;p48"/>
          <p:cNvCxnSpPr/>
          <p:nvPr/>
        </p:nvCxnSpPr>
        <p:spPr>
          <a:xfrm>
            <a:off x="266975" y="5398900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48"/>
          <p:cNvSpPr txBox="1"/>
          <p:nvPr>
            <p:ph idx="2" type="subTitle"/>
          </p:nvPr>
        </p:nvSpPr>
        <p:spPr>
          <a:xfrm>
            <a:off x="177925" y="5424000"/>
            <a:ext cx="4158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9"/>
          <p:cNvSpPr txBox="1"/>
          <p:nvPr>
            <p:ph idx="1" type="subTitle"/>
          </p:nvPr>
        </p:nvSpPr>
        <p:spPr>
          <a:xfrm>
            <a:off x="4835400" y="5597700"/>
            <a:ext cx="40452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6" name="Google Shape;96;p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49"/>
          <p:cNvSpPr txBox="1"/>
          <p:nvPr/>
        </p:nvSpPr>
        <p:spPr>
          <a:xfrm>
            <a:off x="6365900" y="4966500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49"/>
          <p:cNvSpPr txBox="1"/>
          <p:nvPr>
            <p:ph idx="2" type="body"/>
          </p:nvPr>
        </p:nvSpPr>
        <p:spPr>
          <a:xfrm>
            <a:off x="95425" y="536267"/>
            <a:ext cx="4302300" cy="56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" name="Google Shape;99;p49"/>
          <p:cNvSpPr txBox="1"/>
          <p:nvPr>
            <p:ph type="title"/>
          </p:nvPr>
        </p:nvSpPr>
        <p:spPr>
          <a:xfrm>
            <a:off x="0" y="0"/>
            <a:ext cx="9144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00" name="Google Shape;100;p49"/>
          <p:cNvCxnSpPr/>
          <p:nvPr/>
        </p:nvCxnSpPr>
        <p:spPr>
          <a:xfrm>
            <a:off x="95431" y="53628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0"/>
          <p:cNvSpPr/>
          <p:nvPr/>
        </p:nvSpPr>
        <p:spPr>
          <a:xfrm>
            <a:off x="0" y="-167"/>
            <a:ext cx="4572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0"/>
          <p:cNvSpPr txBox="1"/>
          <p:nvPr>
            <p:ph idx="1" type="subTitle"/>
          </p:nvPr>
        </p:nvSpPr>
        <p:spPr>
          <a:xfrm>
            <a:off x="225450" y="5257867"/>
            <a:ext cx="40452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4" name="Google Shape;104;p50"/>
          <p:cNvSpPr txBox="1"/>
          <p:nvPr/>
        </p:nvSpPr>
        <p:spPr>
          <a:xfrm>
            <a:off x="208440" y="4560100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50"/>
          <p:cNvSpPr txBox="1"/>
          <p:nvPr>
            <p:ph idx="2" type="body"/>
          </p:nvPr>
        </p:nvSpPr>
        <p:spPr>
          <a:xfrm>
            <a:off x="4667425" y="536267"/>
            <a:ext cx="4302300" cy="56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6" name="Google Shape;106;p50"/>
          <p:cNvSpPr txBox="1"/>
          <p:nvPr>
            <p:ph type="title"/>
          </p:nvPr>
        </p:nvSpPr>
        <p:spPr>
          <a:xfrm>
            <a:off x="4572000" y="0"/>
            <a:ext cx="457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07" name="Google Shape;107;p50"/>
          <p:cNvCxnSpPr/>
          <p:nvPr/>
        </p:nvCxnSpPr>
        <p:spPr>
          <a:xfrm>
            <a:off x="4667431" y="53628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8" name="Google Shape;108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644637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1"/>
          <p:cNvSpPr/>
          <p:nvPr/>
        </p:nvSpPr>
        <p:spPr>
          <a:xfrm>
            <a:off x="0" y="-167"/>
            <a:ext cx="27765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1"/>
          <p:cNvSpPr txBox="1"/>
          <p:nvPr>
            <p:ph idx="1" type="subTitle"/>
          </p:nvPr>
        </p:nvSpPr>
        <p:spPr>
          <a:xfrm>
            <a:off x="225450" y="5257867"/>
            <a:ext cx="24504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3" name="Google Shape;113;p51"/>
          <p:cNvSpPr txBox="1"/>
          <p:nvPr>
            <p:ph idx="2" type="body"/>
          </p:nvPr>
        </p:nvSpPr>
        <p:spPr>
          <a:xfrm>
            <a:off x="2937350" y="536267"/>
            <a:ext cx="6032400" cy="56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14" name="Google Shape;114;p51"/>
          <p:cNvSpPr txBox="1"/>
          <p:nvPr>
            <p:ph type="title"/>
          </p:nvPr>
        </p:nvSpPr>
        <p:spPr>
          <a:xfrm>
            <a:off x="2776500" y="0"/>
            <a:ext cx="63675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15" name="Google Shape;115;p51"/>
          <p:cNvCxnSpPr/>
          <p:nvPr/>
        </p:nvCxnSpPr>
        <p:spPr>
          <a:xfrm>
            <a:off x="2937350" y="536267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6" name="Google Shape;116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644637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51"/>
          <p:cNvSpPr txBox="1"/>
          <p:nvPr/>
        </p:nvSpPr>
        <p:spPr>
          <a:xfrm>
            <a:off x="208440" y="4560100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2"/>
          <p:cNvSpPr/>
          <p:nvPr/>
        </p:nvSpPr>
        <p:spPr>
          <a:xfrm>
            <a:off x="0" y="-167"/>
            <a:ext cx="27765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2"/>
          <p:cNvSpPr txBox="1"/>
          <p:nvPr>
            <p:ph idx="1" type="subTitle"/>
          </p:nvPr>
        </p:nvSpPr>
        <p:spPr>
          <a:xfrm>
            <a:off x="225450" y="5257867"/>
            <a:ext cx="24504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52"/>
          <p:cNvSpPr txBox="1"/>
          <p:nvPr/>
        </p:nvSpPr>
        <p:spPr>
          <a:xfrm>
            <a:off x="208445" y="4560100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52"/>
          <p:cNvSpPr txBox="1"/>
          <p:nvPr>
            <p:ph idx="2" type="body"/>
          </p:nvPr>
        </p:nvSpPr>
        <p:spPr>
          <a:xfrm>
            <a:off x="2937350" y="536267"/>
            <a:ext cx="6032400" cy="56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4" name="Google Shape;124;p52"/>
          <p:cNvSpPr txBox="1"/>
          <p:nvPr>
            <p:ph type="title"/>
          </p:nvPr>
        </p:nvSpPr>
        <p:spPr>
          <a:xfrm>
            <a:off x="2776500" y="0"/>
            <a:ext cx="63675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25" name="Google Shape;125;p52"/>
          <p:cNvCxnSpPr/>
          <p:nvPr/>
        </p:nvCxnSpPr>
        <p:spPr>
          <a:xfrm>
            <a:off x="2937350" y="536267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6" name="Google Shape;126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644637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3"/>
          <p:cNvSpPr/>
          <p:nvPr/>
        </p:nvSpPr>
        <p:spPr>
          <a:xfrm>
            <a:off x="0" y="-167"/>
            <a:ext cx="27765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3"/>
          <p:cNvSpPr txBox="1"/>
          <p:nvPr>
            <p:ph idx="1" type="subTitle"/>
          </p:nvPr>
        </p:nvSpPr>
        <p:spPr>
          <a:xfrm>
            <a:off x="225450" y="5257867"/>
            <a:ext cx="24504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1" name="Google Shape;131;p53"/>
          <p:cNvSpPr txBox="1"/>
          <p:nvPr/>
        </p:nvSpPr>
        <p:spPr>
          <a:xfrm>
            <a:off x="208445" y="4560100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53"/>
          <p:cNvSpPr txBox="1"/>
          <p:nvPr>
            <p:ph idx="2" type="body"/>
          </p:nvPr>
        </p:nvSpPr>
        <p:spPr>
          <a:xfrm>
            <a:off x="2937350" y="536267"/>
            <a:ext cx="6032400" cy="56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3" name="Google Shape;133;p53"/>
          <p:cNvSpPr txBox="1"/>
          <p:nvPr>
            <p:ph type="title"/>
          </p:nvPr>
        </p:nvSpPr>
        <p:spPr>
          <a:xfrm>
            <a:off x="2776500" y="0"/>
            <a:ext cx="63675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34" name="Google Shape;134;p53"/>
          <p:cNvCxnSpPr/>
          <p:nvPr/>
        </p:nvCxnSpPr>
        <p:spPr>
          <a:xfrm>
            <a:off x="2937350" y="536267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5" name="Google Shape;135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644637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4"/>
          <p:cNvSpPr txBox="1"/>
          <p:nvPr>
            <p:ph type="title"/>
          </p:nvPr>
        </p:nvSpPr>
        <p:spPr>
          <a:xfrm>
            <a:off x="0" y="0"/>
            <a:ext cx="9144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54"/>
          <p:cNvSpPr txBox="1"/>
          <p:nvPr>
            <p:ph idx="1" type="body"/>
          </p:nvPr>
        </p:nvSpPr>
        <p:spPr>
          <a:xfrm>
            <a:off x="4812381" y="536275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40" name="Google Shape;140;p5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1" name="Google Shape;141;p54"/>
          <p:cNvCxnSpPr/>
          <p:nvPr/>
        </p:nvCxnSpPr>
        <p:spPr>
          <a:xfrm>
            <a:off x="95431" y="53628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54"/>
          <p:cNvSpPr txBox="1"/>
          <p:nvPr>
            <p:ph idx="2" type="body"/>
          </p:nvPr>
        </p:nvSpPr>
        <p:spPr>
          <a:xfrm>
            <a:off x="95431" y="536275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5"/>
          <p:cNvSpPr txBox="1"/>
          <p:nvPr>
            <p:ph type="title"/>
          </p:nvPr>
        </p:nvSpPr>
        <p:spPr>
          <a:xfrm>
            <a:off x="0" y="0"/>
            <a:ext cx="9144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5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6" name="Google Shape;146;p55"/>
          <p:cNvCxnSpPr/>
          <p:nvPr/>
        </p:nvCxnSpPr>
        <p:spPr>
          <a:xfrm>
            <a:off x="95431" y="53628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6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9" name="Google Shape;149;p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7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7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3" name="Google Shape;153;p57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4" name="Google Shape;154;p5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57"/>
          <p:cNvSpPr txBox="1"/>
          <p:nvPr>
            <p:ph idx="2" type="body"/>
          </p:nvPr>
        </p:nvSpPr>
        <p:spPr>
          <a:xfrm>
            <a:off x="4812381" y="536275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58"/>
          <p:cNvSpPr txBox="1"/>
          <p:nvPr>
            <p:ph type="title"/>
          </p:nvPr>
        </p:nvSpPr>
        <p:spPr>
          <a:xfrm>
            <a:off x="95425" y="5717867"/>
            <a:ext cx="8658900" cy="10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59" name="Google Shape;159;p58"/>
          <p:cNvCxnSpPr/>
          <p:nvPr/>
        </p:nvCxnSpPr>
        <p:spPr>
          <a:xfrm>
            <a:off x="168250" y="5717867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1"/>
          <p:cNvSpPr/>
          <p:nvPr/>
        </p:nvSpPr>
        <p:spPr>
          <a:xfrm>
            <a:off x="0" y="-167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61"/>
          <p:cNvSpPr txBox="1"/>
          <p:nvPr>
            <p:ph idx="1" type="body"/>
          </p:nvPr>
        </p:nvSpPr>
        <p:spPr>
          <a:xfrm>
            <a:off x="4812375" y="536264"/>
            <a:ext cx="3999900" cy="56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68" name="Google Shape;168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644637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1"/>
          <p:cNvSpPr txBox="1"/>
          <p:nvPr>
            <p:ph type="title"/>
          </p:nvPr>
        </p:nvSpPr>
        <p:spPr>
          <a:xfrm>
            <a:off x="177925" y="2671067"/>
            <a:ext cx="4038000" cy="271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0" name="Google Shape;170;p61"/>
          <p:cNvCxnSpPr/>
          <p:nvPr/>
        </p:nvCxnSpPr>
        <p:spPr>
          <a:xfrm>
            <a:off x="266975" y="5398900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61"/>
          <p:cNvSpPr txBox="1"/>
          <p:nvPr>
            <p:ph idx="2" type="subTitle"/>
          </p:nvPr>
        </p:nvSpPr>
        <p:spPr>
          <a:xfrm>
            <a:off x="177925" y="5424000"/>
            <a:ext cx="4158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2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2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5" name="Google Shape;175;p62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" name="Google Shape;176;p62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6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3"/>
          <p:cNvSpPr/>
          <p:nvPr/>
        </p:nvSpPr>
        <p:spPr>
          <a:xfrm>
            <a:off x="0" y="8"/>
            <a:ext cx="4572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63"/>
          <p:cNvSpPr txBox="1"/>
          <p:nvPr>
            <p:ph idx="1" type="body"/>
          </p:nvPr>
        </p:nvSpPr>
        <p:spPr>
          <a:xfrm>
            <a:off x="4882900" y="1536200"/>
            <a:ext cx="3950100" cy="4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63"/>
          <p:cNvSpPr txBox="1"/>
          <p:nvPr>
            <p:ph idx="2" type="body"/>
          </p:nvPr>
        </p:nvSpPr>
        <p:spPr>
          <a:xfrm>
            <a:off x="310900" y="597400"/>
            <a:ext cx="3950100" cy="54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63"/>
          <p:cNvSpPr txBox="1"/>
          <p:nvPr>
            <p:ph type="title"/>
          </p:nvPr>
        </p:nvSpPr>
        <p:spPr>
          <a:xfrm>
            <a:off x="4882900" y="593367"/>
            <a:ext cx="3950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4" name="Google Shape;184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644637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4"/>
          <p:cNvSpPr/>
          <p:nvPr/>
        </p:nvSpPr>
        <p:spPr>
          <a:xfrm>
            <a:off x="0" y="8"/>
            <a:ext cx="4572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64"/>
          <p:cNvSpPr txBox="1"/>
          <p:nvPr>
            <p:ph idx="1" type="body"/>
          </p:nvPr>
        </p:nvSpPr>
        <p:spPr>
          <a:xfrm>
            <a:off x="4882900" y="1536200"/>
            <a:ext cx="3950100" cy="4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64"/>
          <p:cNvSpPr txBox="1"/>
          <p:nvPr>
            <p:ph idx="2" type="body"/>
          </p:nvPr>
        </p:nvSpPr>
        <p:spPr>
          <a:xfrm>
            <a:off x="310900" y="597400"/>
            <a:ext cx="3950100" cy="54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64"/>
          <p:cNvSpPr txBox="1"/>
          <p:nvPr>
            <p:ph idx="3" type="subTitle"/>
          </p:nvPr>
        </p:nvSpPr>
        <p:spPr>
          <a:xfrm>
            <a:off x="225450" y="5257867"/>
            <a:ext cx="40452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1" name="Google Shape;191;p64"/>
          <p:cNvSpPr txBox="1"/>
          <p:nvPr>
            <p:ph type="title"/>
          </p:nvPr>
        </p:nvSpPr>
        <p:spPr>
          <a:xfrm>
            <a:off x="208450" y="4557900"/>
            <a:ext cx="3950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92" name="Google Shape;192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644637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5" name="Google Shape;195;p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6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66"/>
          <p:cNvSpPr txBox="1"/>
          <p:nvPr>
            <p:ph idx="1" type="body"/>
          </p:nvPr>
        </p:nvSpPr>
        <p:spPr>
          <a:xfrm>
            <a:off x="311700" y="1536200"/>
            <a:ext cx="3950100" cy="4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66"/>
          <p:cNvSpPr txBox="1"/>
          <p:nvPr>
            <p:ph idx="2" type="body"/>
          </p:nvPr>
        </p:nvSpPr>
        <p:spPr>
          <a:xfrm>
            <a:off x="4882900" y="597400"/>
            <a:ext cx="3950100" cy="54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66"/>
          <p:cNvSpPr txBox="1"/>
          <p:nvPr>
            <p:ph type="title"/>
          </p:nvPr>
        </p:nvSpPr>
        <p:spPr>
          <a:xfrm>
            <a:off x="311700" y="593367"/>
            <a:ext cx="3950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7"/>
          <p:cNvSpPr txBox="1"/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204" name="Google Shape;204;p67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7" name="Google Shape;217;p24"/>
          <p:cNvCxnSpPr/>
          <p:nvPr/>
        </p:nvCxnSpPr>
        <p:spPr>
          <a:xfrm>
            <a:off x="0" y="6825153"/>
            <a:ext cx="9144000" cy="0"/>
          </a:xfrm>
          <a:prstGeom prst="straightConnector1">
            <a:avLst/>
          </a:prstGeom>
          <a:noFill/>
          <a:ln cap="flat" cmpd="sng" w="1270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220" name="Google Shape;220;p25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ctrTitle"/>
          </p:nvPr>
        </p:nvSpPr>
        <p:spPr>
          <a:xfrm>
            <a:off x="685800" y="2605794"/>
            <a:ext cx="77724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5400"/>
              <a:buFont typeface="PT Sans Narrow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5"/>
          <p:cNvSpPr txBox="1"/>
          <p:nvPr>
            <p:ph idx="1" type="subTitle"/>
          </p:nvPr>
        </p:nvSpPr>
        <p:spPr>
          <a:xfrm>
            <a:off x="1664038" y="3615266"/>
            <a:ext cx="5813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4" name="Google Shape;224;p3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7" name="Google Shape;227;p35"/>
          <p:cNvCxnSpPr/>
          <p:nvPr/>
        </p:nvCxnSpPr>
        <p:spPr>
          <a:xfrm>
            <a:off x="457200" y="4963872"/>
            <a:ext cx="8229600" cy="0"/>
          </a:xfrm>
          <a:prstGeom prst="straightConnector1">
            <a:avLst/>
          </a:prstGeom>
          <a:noFill/>
          <a:ln cap="flat" cmpd="sng" w="1270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28" name="Google Shape;228;p35"/>
          <p:cNvCxnSpPr/>
          <p:nvPr/>
        </p:nvCxnSpPr>
        <p:spPr>
          <a:xfrm>
            <a:off x="457200" y="1984939"/>
            <a:ext cx="8229600" cy="0"/>
          </a:xfrm>
          <a:prstGeom prst="straightConnector1">
            <a:avLst/>
          </a:prstGeom>
          <a:noFill/>
          <a:ln cap="flat" cmpd="sng" w="1270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29" name="Google Shape;229;p35"/>
          <p:cNvCxnSpPr/>
          <p:nvPr/>
        </p:nvCxnSpPr>
        <p:spPr>
          <a:xfrm>
            <a:off x="457200" y="2137339"/>
            <a:ext cx="8229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30" name="Google Shape;230;p35"/>
          <p:cNvCxnSpPr/>
          <p:nvPr/>
        </p:nvCxnSpPr>
        <p:spPr>
          <a:xfrm>
            <a:off x="457200" y="4807943"/>
            <a:ext cx="8229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31" name="Google Shape;231;p35"/>
          <p:cNvCxnSpPr/>
          <p:nvPr/>
        </p:nvCxnSpPr>
        <p:spPr>
          <a:xfrm>
            <a:off x="1081214" y="3879061"/>
            <a:ext cx="582900" cy="0"/>
          </a:xfrm>
          <a:prstGeom prst="straightConnector1">
            <a:avLst/>
          </a:prstGeom>
          <a:noFill/>
          <a:ln cap="flat" cmpd="sng" w="1270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32" name="Google Shape;232;p35"/>
          <p:cNvCxnSpPr/>
          <p:nvPr/>
        </p:nvCxnSpPr>
        <p:spPr>
          <a:xfrm>
            <a:off x="7480987" y="3870454"/>
            <a:ext cx="582900" cy="0"/>
          </a:xfrm>
          <a:prstGeom prst="straightConnector1">
            <a:avLst/>
          </a:prstGeom>
          <a:noFill/>
          <a:ln cap="flat" cmpd="sng" w="1270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b="1" sz="12000">
                <a:solidFill>
                  <a:schemeClr val="accent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5" name="Google Shape;235;p3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3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1" name="Google Shape;241;p37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2" name="Google Shape;242;p3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38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8" name="Google Shape;248;p38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49" name="Google Shape;249;p38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0" name="Google Shape;250;p38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51" name="Google Shape;251;p3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4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/>
          <p:nvPr>
            <p:ph type="title"/>
          </p:nvPr>
        </p:nvSpPr>
        <p:spPr>
          <a:xfrm>
            <a:off x="457200" y="273050"/>
            <a:ext cx="30084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2000"/>
              <a:buFont typeface="PT Sans Narrow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695D46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695D46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66" name="Google Shape;266;p4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95D46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695D46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95D46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695D46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695D46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67" name="Google Shape;267;p4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2000"/>
              <a:buFont typeface="PT Sans Narrow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95D46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695D46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95D46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695D46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695D46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74" name="Google Shape;274;p4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4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0" name="Google Shape;280;p4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4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p4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4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4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3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28f25040a0_0_56"/>
          <p:cNvSpPr txBox="1"/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291" name="Google Shape;291;g328f25040a0_0_56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  <a:defRPr b="0" i="0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C343D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90250" y="6241345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0" y="0"/>
            <a:ext cx="9144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b="0" i="0" sz="16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311700" y="763600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"/>
          <p:cNvSpPr txBox="1"/>
          <p:nvPr>
            <p:ph type="ctrTitle"/>
          </p:nvPr>
        </p:nvSpPr>
        <p:spPr>
          <a:xfrm>
            <a:off x="239100" y="1321075"/>
            <a:ext cx="8665800" cy="230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4800"/>
              <a:buFont typeface="Francois One"/>
              <a:buNone/>
            </a:pPr>
            <a:r>
              <a:rPr lang="en"/>
              <a:t>CS168: Discussion 4 - Routers II</a:t>
            </a:r>
            <a:endParaRPr b="0" i="0" sz="48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297" name="Google Shape;297;p1"/>
          <p:cNvSpPr txBox="1"/>
          <p:nvPr>
            <p:ph idx="1" type="subTitle"/>
          </p:nvPr>
        </p:nvSpPr>
        <p:spPr>
          <a:xfrm>
            <a:off x="671250" y="4233168"/>
            <a:ext cx="78015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</a:rPr>
              <a:t>Intro to the Internet</a:t>
            </a:r>
            <a:endParaRPr b="1" i="0" sz="30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" sz="3000">
                <a:solidFill>
                  <a:srgbClr val="000000"/>
                </a:solidFill>
              </a:rPr>
              <a:t>Spring</a:t>
            </a:r>
            <a:r>
              <a:rPr b="1" lang="en" sz="3000">
                <a:solidFill>
                  <a:srgbClr val="000000"/>
                </a:solidFill>
              </a:rPr>
              <a:t> 2025</a:t>
            </a:r>
            <a:endParaRPr b="1" sz="30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t/>
            </a:r>
            <a:endParaRPr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"/>
          <p:cNvSpPr txBox="1"/>
          <p:nvPr>
            <p:ph idx="1" type="body"/>
          </p:nvPr>
        </p:nvSpPr>
        <p:spPr>
          <a:xfrm>
            <a:off x="457200" y="1397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Char char="–"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HW1: Architecture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Char char="•"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Deadline: Monday February 24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Char char="–"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Project 2: Distance-Vector Routing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Char char="•"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Deadline: Tuesday February 28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Char char="–"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HW2: Routing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Char char="•"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Deadline: Monday March 17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Char char="–"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Midterm on March 11, 7–9pm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04" name="Google Shape;304;p2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lang="en"/>
              <a:t>Logistics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lang="en"/>
              <a:t>Today’s topics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11" name="Google Shape;311;p3"/>
          <p:cNvSpPr txBox="1"/>
          <p:nvPr>
            <p:ph idx="1" type="body"/>
          </p:nvPr>
        </p:nvSpPr>
        <p:spPr>
          <a:xfrm>
            <a:off x="457200" y="1397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Char char="–"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link-state routing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Char char="–"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addressing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"/>
          <p:cNvSpPr txBox="1"/>
          <p:nvPr>
            <p:ph type="title"/>
          </p:nvPr>
        </p:nvSpPr>
        <p:spPr>
          <a:xfrm>
            <a:off x="1458450" y="701800"/>
            <a:ext cx="62271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Link State Routing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"/>
          <p:cNvSpPr txBox="1"/>
          <p:nvPr>
            <p:ph type="title"/>
          </p:nvPr>
        </p:nvSpPr>
        <p:spPr>
          <a:xfrm>
            <a:off x="3879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300"/>
              <a:t>Link State Routing</a:t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300"/>
          </a:p>
        </p:txBody>
      </p:sp>
      <p:sp>
        <p:nvSpPr>
          <p:cNvPr id="322" name="Google Shape;322;p5"/>
          <p:cNvSpPr txBox="1"/>
          <p:nvPr>
            <p:ph idx="1" type="body"/>
          </p:nvPr>
        </p:nvSpPr>
        <p:spPr>
          <a:xfrm>
            <a:off x="387900" y="1536630"/>
            <a:ext cx="8520600" cy="16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/>
              <a:t>Each router knows its own local “link state”: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State of each link to its neighbor (up/down)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Associated costs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300"/>
          </a:p>
        </p:txBody>
      </p:sp>
      <p:cxnSp>
        <p:nvCxnSpPr>
          <p:cNvPr id="323" name="Google Shape;323;p5"/>
          <p:cNvCxnSpPr/>
          <p:nvPr/>
        </p:nvCxnSpPr>
        <p:spPr>
          <a:xfrm flipH="1" rot="10800000">
            <a:off x="3532357" y="4634243"/>
            <a:ext cx="1113600" cy="1262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24" name="Google Shape;324;p5"/>
          <p:cNvCxnSpPr/>
          <p:nvPr/>
        </p:nvCxnSpPr>
        <p:spPr>
          <a:xfrm rot="10800000">
            <a:off x="4645841" y="4634243"/>
            <a:ext cx="1113600" cy="1262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25" name="Google Shape;325;p5"/>
          <p:cNvCxnSpPr/>
          <p:nvPr/>
        </p:nvCxnSpPr>
        <p:spPr>
          <a:xfrm>
            <a:off x="3532357" y="5896943"/>
            <a:ext cx="22272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26" name="Google Shape;326;p5"/>
          <p:cNvCxnSpPr/>
          <p:nvPr/>
        </p:nvCxnSpPr>
        <p:spPr>
          <a:xfrm flipH="1" rot="10800000">
            <a:off x="2584131" y="5896799"/>
            <a:ext cx="948300" cy="335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27" name="Google Shape;327;p5"/>
          <p:cNvCxnSpPr/>
          <p:nvPr/>
        </p:nvCxnSpPr>
        <p:spPr>
          <a:xfrm>
            <a:off x="4664866" y="3909504"/>
            <a:ext cx="0" cy="6756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28" name="Google Shape;328;p5"/>
          <p:cNvCxnSpPr/>
          <p:nvPr/>
        </p:nvCxnSpPr>
        <p:spPr>
          <a:xfrm rot="10800000">
            <a:off x="5742976" y="5896625"/>
            <a:ext cx="967500" cy="3849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329" name="Google Shape;3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2110" y="4485360"/>
            <a:ext cx="335685" cy="22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8568" y="5752298"/>
            <a:ext cx="335685" cy="22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5652" y="5748124"/>
            <a:ext cx="335685" cy="223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Computer Icon | Vista Hardware Devices Iconset | Icons-Land" id="332" name="Google Shape;33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2903" y="5896943"/>
            <a:ext cx="451843" cy="451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Computer Icon | Vista Hardware Devices Iconset | Icons-Land" id="333" name="Google Shape;33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9248" y="5896943"/>
            <a:ext cx="451843" cy="451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Computer Icon | Vista Hardware Devices Iconset | Icons-Land" id="334" name="Google Shape;33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7532" y="3529411"/>
            <a:ext cx="451843" cy="45184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"/>
          <p:cNvSpPr txBox="1"/>
          <p:nvPr/>
        </p:nvSpPr>
        <p:spPr>
          <a:xfrm>
            <a:off x="5224251" y="4750461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5"/>
          <p:cNvSpPr txBox="1"/>
          <p:nvPr/>
        </p:nvSpPr>
        <p:spPr>
          <a:xfrm>
            <a:off x="4449371" y="5864018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5"/>
          <p:cNvSpPr txBox="1"/>
          <p:nvPr/>
        </p:nvSpPr>
        <p:spPr>
          <a:xfrm>
            <a:off x="3702744" y="4738927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"/>
          <p:cNvSpPr txBox="1"/>
          <p:nvPr>
            <p:ph type="title"/>
          </p:nvPr>
        </p:nvSpPr>
        <p:spPr>
          <a:xfrm>
            <a:off x="3879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300"/>
              <a:t>Link State Routing</a:t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300"/>
          </a:p>
        </p:txBody>
      </p:sp>
      <p:sp>
        <p:nvSpPr>
          <p:cNvPr id="343" name="Google Shape;343;p6"/>
          <p:cNvSpPr txBox="1"/>
          <p:nvPr>
            <p:ph idx="1" type="body"/>
          </p:nvPr>
        </p:nvSpPr>
        <p:spPr>
          <a:xfrm>
            <a:off x="387900" y="1536630"/>
            <a:ext cx="8520600" cy="18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Router floods its link state to all other routers.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Each router learns global network topology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Then, computes shortest path themselves!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With Dijkstra’s, etc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300"/>
          </a:p>
        </p:txBody>
      </p:sp>
      <p:cxnSp>
        <p:nvCxnSpPr>
          <p:cNvPr id="344" name="Google Shape;344;p6"/>
          <p:cNvCxnSpPr/>
          <p:nvPr/>
        </p:nvCxnSpPr>
        <p:spPr>
          <a:xfrm flipH="1" rot="10800000">
            <a:off x="3532357" y="4651418"/>
            <a:ext cx="1113600" cy="1262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45" name="Google Shape;345;p6"/>
          <p:cNvCxnSpPr/>
          <p:nvPr/>
        </p:nvCxnSpPr>
        <p:spPr>
          <a:xfrm rot="10800000">
            <a:off x="4645841" y="4651418"/>
            <a:ext cx="1113600" cy="1262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46" name="Google Shape;346;p6"/>
          <p:cNvCxnSpPr/>
          <p:nvPr/>
        </p:nvCxnSpPr>
        <p:spPr>
          <a:xfrm>
            <a:off x="3532357" y="5914118"/>
            <a:ext cx="22272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47" name="Google Shape;347;p6"/>
          <p:cNvCxnSpPr/>
          <p:nvPr/>
        </p:nvCxnSpPr>
        <p:spPr>
          <a:xfrm flipH="1" rot="10800000">
            <a:off x="2584131" y="5913974"/>
            <a:ext cx="948300" cy="335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48" name="Google Shape;348;p6"/>
          <p:cNvCxnSpPr/>
          <p:nvPr/>
        </p:nvCxnSpPr>
        <p:spPr>
          <a:xfrm>
            <a:off x="4664866" y="3926679"/>
            <a:ext cx="0" cy="6756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49" name="Google Shape;349;p6"/>
          <p:cNvCxnSpPr/>
          <p:nvPr/>
        </p:nvCxnSpPr>
        <p:spPr>
          <a:xfrm rot="10800000">
            <a:off x="5742976" y="5913800"/>
            <a:ext cx="967500" cy="3849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350" name="Google Shape;3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2110" y="4502535"/>
            <a:ext cx="335685" cy="22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8568" y="5769473"/>
            <a:ext cx="335685" cy="22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5652" y="5765299"/>
            <a:ext cx="335685" cy="223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Computer Icon | Vista Hardware Devices Iconset | Icons-Land" id="353" name="Google Shape;35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2903" y="5914118"/>
            <a:ext cx="451843" cy="451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Computer Icon | Vista Hardware Devices Iconset | Icons-Land" id="354" name="Google Shape;35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9248" y="5914118"/>
            <a:ext cx="451843" cy="451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Computer Icon | Vista Hardware Devices Iconset | Icons-Land" id="355" name="Google Shape;35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7532" y="3546586"/>
            <a:ext cx="451843" cy="451843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6"/>
          <p:cNvSpPr txBox="1"/>
          <p:nvPr/>
        </p:nvSpPr>
        <p:spPr>
          <a:xfrm>
            <a:off x="5224251" y="4767636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"/>
          <p:cNvSpPr txBox="1"/>
          <p:nvPr/>
        </p:nvSpPr>
        <p:spPr>
          <a:xfrm>
            <a:off x="4449371" y="5881193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"/>
          <p:cNvSpPr txBox="1"/>
          <p:nvPr/>
        </p:nvSpPr>
        <p:spPr>
          <a:xfrm>
            <a:off x="3702744" y="4756102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"/>
          <p:cNvSpPr txBox="1"/>
          <p:nvPr>
            <p:ph type="title"/>
          </p:nvPr>
        </p:nvSpPr>
        <p:spPr>
          <a:xfrm>
            <a:off x="3879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300"/>
              <a:t>Link State Routing</a:t>
            </a:r>
            <a:endParaRPr sz="3300"/>
          </a:p>
        </p:txBody>
      </p:sp>
      <p:sp>
        <p:nvSpPr>
          <p:cNvPr id="364" name="Google Shape;364;p7"/>
          <p:cNvSpPr txBox="1"/>
          <p:nvPr>
            <p:ph idx="1" type="body"/>
          </p:nvPr>
        </p:nvSpPr>
        <p:spPr>
          <a:xfrm>
            <a:off x="387900" y="1536631"/>
            <a:ext cx="8520600" cy="1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Router floods its link state to all other routers.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Each router learns global network topology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Then, computes shortest path themselves!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With Dijkstra’s, etc</a:t>
            </a:r>
            <a:endParaRPr sz="2300"/>
          </a:p>
        </p:txBody>
      </p:sp>
      <p:cxnSp>
        <p:nvCxnSpPr>
          <p:cNvPr id="365" name="Google Shape;365;p7"/>
          <p:cNvCxnSpPr/>
          <p:nvPr/>
        </p:nvCxnSpPr>
        <p:spPr>
          <a:xfrm flipH="1" rot="10800000">
            <a:off x="3527957" y="4661593"/>
            <a:ext cx="1113600" cy="1262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66" name="Google Shape;366;p7"/>
          <p:cNvCxnSpPr/>
          <p:nvPr/>
        </p:nvCxnSpPr>
        <p:spPr>
          <a:xfrm rot="10800000">
            <a:off x="4641441" y="4661593"/>
            <a:ext cx="1113600" cy="1262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67" name="Google Shape;367;p7"/>
          <p:cNvCxnSpPr/>
          <p:nvPr/>
        </p:nvCxnSpPr>
        <p:spPr>
          <a:xfrm>
            <a:off x="3527957" y="5924293"/>
            <a:ext cx="22272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68" name="Google Shape;368;p7"/>
          <p:cNvCxnSpPr/>
          <p:nvPr/>
        </p:nvCxnSpPr>
        <p:spPr>
          <a:xfrm flipH="1" rot="10800000">
            <a:off x="2579731" y="5924149"/>
            <a:ext cx="948300" cy="335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69" name="Google Shape;369;p7"/>
          <p:cNvCxnSpPr/>
          <p:nvPr/>
        </p:nvCxnSpPr>
        <p:spPr>
          <a:xfrm>
            <a:off x="4660466" y="3936854"/>
            <a:ext cx="0" cy="6756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70" name="Google Shape;370;p7"/>
          <p:cNvCxnSpPr/>
          <p:nvPr/>
        </p:nvCxnSpPr>
        <p:spPr>
          <a:xfrm rot="10800000">
            <a:off x="5738576" y="5923975"/>
            <a:ext cx="967500" cy="3849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371" name="Google Shape;3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7710" y="4512710"/>
            <a:ext cx="335685" cy="22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4168" y="5779648"/>
            <a:ext cx="335685" cy="22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1252" y="5775474"/>
            <a:ext cx="335685" cy="223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Computer Icon | Vista Hardware Devices Iconset | Icons-Land" id="374" name="Google Shape;37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78503" y="5924293"/>
            <a:ext cx="451843" cy="451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Computer Icon | Vista Hardware Devices Iconset | Icons-Land" id="375" name="Google Shape;37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4848" y="5924293"/>
            <a:ext cx="451843" cy="451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Computer Icon | Vista Hardware Devices Iconset | Icons-Land" id="376" name="Google Shape;37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3132" y="3556761"/>
            <a:ext cx="451843" cy="451843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7"/>
          <p:cNvSpPr txBox="1"/>
          <p:nvPr/>
        </p:nvSpPr>
        <p:spPr>
          <a:xfrm>
            <a:off x="5219851" y="4777811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"/>
          <p:cNvSpPr txBox="1"/>
          <p:nvPr/>
        </p:nvSpPr>
        <p:spPr>
          <a:xfrm>
            <a:off x="3698344" y="4766277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7"/>
          <p:cNvSpPr txBox="1"/>
          <p:nvPr/>
        </p:nvSpPr>
        <p:spPr>
          <a:xfrm>
            <a:off x="4444971" y="5891368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7"/>
          <p:cNvCxnSpPr/>
          <p:nvPr/>
        </p:nvCxnSpPr>
        <p:spPr>
          <a:xfrm flipH="1" rot="10800000">
            <a:off x="7148033" y="5304697"/>
            <a:ext cx="286200" cy="1011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81" name="Google Shape;381;p7"/>
          <p:cNvCxnSpPr/>
          <p:nvPr/>
        </p:nvCxnSpPr>
        <p:spPr>
          <a:xfrm>
            <a:off x="7776304" y="4704376"/>
            <a:ext cx="0" cy="2040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82" name="Google Shape;382;p7"/>
          <p:cNvCxnSpPr/>
          <p:nvPr/>
        </p:nvCxnSpPr>
        <p:spPr>
          <a:xfrm rot="10800000">
            <a:off x="8101770" y="5304500"/>
            <a:ext cx="292200" cy="1161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383" name="Google Shape;3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3004" y="4878255"/>
            <a:ext cx="101360" cy="67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6774" y="5260802"/>
            <a:ext cx="101360" cy="67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9235" y="5259542"/>
            <a:ext cx="101360" cy="67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Computer Icon | Vista Hardware Devices Iconset | Icons-Land" id="386" name="Google Shape;38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7078" y="5304477"/>
            <a:ext cx="136433" cy="136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Computer Icon | Vista Hardware Devices Iconset | Icons-Land" id="387" name="Google Shape;38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3015" y="5304477"/>
            <a:ext cx="136433" cy="136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Computer Icon | Vista Hardware Devices Iconset | Icons-Land" id="388" name="Google Shape;38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68409" y="4589608"/>
            <a:ext cx="136433" cy="13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9" name="Google Shape;389;p7"/>
          <p:cNvCxnSpPr/>
          <p:nvPr/>
        </p:nvCxnSpPr>
        <p:spPr>
          <a:xfrm rot="10800000">
            <a:off x="7770507" y="4923436"/>
            <a:ext cx="336300" cy="3711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90" name="Google Shape;390;p7"/>
          <p:cNvCxnSpPr/>
          <p:nvPr/>
        </p:nvCxnSpPr>
        <p:spPr>
          <a:xfrm>
            <a:off x="7483880" y="5341739"/>
            <a:ext cx="568800" cy="0"/>
          </a:xfrm>
          <a:prstGeom prst="straightConnector1">
            <a:avLst/>
          </a:prstGeom>
          <a:noFill/>
          <a:ln cap="flat" cmpd="sng" w="635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391" name="Google Shape;391;p7"/>
          <p:cNvSpPr/>
          <p:nvPr/>
        </p:nvSpPr>
        <p:spPr>
          <a:xfrm>
            <a:off x="7439361" y="4956076"/>
            <a:ext cx="593745" cy="288243"/>
          </a:xfrm>
          <a:custGeom>
            <a:rect b="b" l="l" r="r" t="t"/>
            <a:pathLst>
              <a:path extrusionOk="0" h="952868" w="1962795">
                <a:moveTo>
                  <a:pt x="1962795" y="946331"/>
                </a:moveTo>
                <a:cubicBezTo>
                  <a:pt x="1217912" y="836614"/>
                  <a:pt x="199691" y="1050088"/>
                  <a:pt x="23826" y="892366"/>
                </a:cubicBezTo>
                <a:cubicBezTo>
                  <a:pt x="-152039" y="734644"/>
                  <a:pt x="696446" y="212993"/>
                  <a:pt x="907603" y="0"/>
                </a:cubicBezTo>
              </a:path>
            </a:pathLst>
          </a:cu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6724231" y="4408895"/>
            <a:ext cx="2088000" cy="1424100"/>
          </a:xfrm>
          <a:prstGeom prst="cloudCallout">
            <a:avLst>
              <a:gd fmla="val -84072" name="adj1"/>
              <a:gd fmla="val 40005" name="adj2"/>
            </a:avLst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3" name="Google Shape;393;p7"/>
          <p:cNvGrpSpPr/>
          <p:nvPr/>
        </p:nvGrpSpPr>
        <p:grpSpPr>
          <a:xfrm>
            <a:off x="4961864" y="3015632"/>
            <a:ext cx="2243400" cy="1530000"/>
            <a:chOff x="4585939" y="2442604"/>
            <a:chExt cx="2243400" cy="1530000"/>
          </a:xfrm>
        </p:grpSpPr>
        <p:cxnSp>
          <p:nvCxnSpPr>
            <p:cNvPr id="394" name="Google Shape;394;p7"/>
            <p:cNvCxnSpPr/>
            <p:nvPr/>
          </p:nvCxnSpPr>
          <p:spPr>
            <a:xfrm flipH="1" rot="10800000">
              <a:off x="5221363" y="2947753"/>
              <a:ext cx="393300" cy="391200"/>
            </a:xfrm>
            <a:prstGeom prst="straightConnector1">
              <a:avLst/>
            </a:prstGeom>
            <a:noFill/>
            <a:ln cap="flat" cmpd="sng" w="63500">
              <a:solidFill>
                <a:srgbClr val="FF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95" name="Google Shape;395;p7"/>
            <p:cNvCxnSpPr/>
            <p:nvPr/>
          </p:nvCxnSpPr>
          <p:spPr>
            <a:xfrm rot="10800000">
              <a:off x="5633092" y="2969988"/>
              <a:ext cx="389400" cy="4416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396" name="Google Shape;396;p7"/>
            <p:cNvCxnSpPr/>
            <p:nvPr/>
          </p:nvCxnSpPr>
          <p:spPr>
            <a:xfrm flipH="1" rot="10800000">
              <a:off x="4911680" y="3411674"/>
              <a:ext cx="331800" cy="1173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397" name="Google Shape;397;p7"/>
            <p:cNvCxnSpPr/>
            <p:nvPr/>
          </p:nvCxnSpPr>
          <p:spPr>
            <a:xfrm>
              <a:off x="5639579" y="2716327"/>
              <a:ext cx="0" cy="2364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398" name="Google Shape;398;p7"/>
            <p:cNvCxnSpPr/>
            <p:nvPr/>
          </p:nvCxnSpPr>
          <p:spPr>
            <a:xfrm rot="10800000">
              <a:off x="6016792" y="3411725"/>
              <a:ext cx="338400" cy="1344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pic>
          <p:nvPicPr>
            <p:cNvPr id="399" name="Google Shape;39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54657" y="2917777"/>
              <a:ext cx="156576" cy="1041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65108" y="3360987"/>
              <a:ext cx="156576" cy="1041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" name="Google Shape;401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44205" y="3359526"/>
              <a:ext cx="156576" cy="1041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Computer Icon | Vista Hardware Devices Iconset | Icons-Land" id="402" name="Google Shape;402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06302" y="3411587"/>
              <a:ext cx="210757" cy="210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Computer Icon | Vista Hardware Devices Iconset | Icons-Land" id="403" name="Google Shape;403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49813" y="3411587"/>
              <a:ext cx="210757" cy="210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Computer Icon | Vista Hardware Devices Iconset | Icons-Land" id="404" name="Google Shape;404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514574" y="2583359"/>
              <a:ext cx="210757" cy="2107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7"/>
            <p:cNvSpPr/>
            <p:nvPr/>
          </p:nvSpPr>
          <p:spPr>
            <a:xfrm>
              <a:off x="5370645" y="3023359"/>
              <a:ext cx="589464" cy="412889"/>
            </a:xfrm>
            <a:custGeom>
              <a:rect b="b" l="l" r="r" t="t"/>
              <a:pathLst>
                <a:path extrusionOk="0" h="1179684" w="1684183">
                  <a:moveTo>
                    <a:pt x="780799" y="0"/>
                  </a:moveTo>
                  <a:cubicBezTo>
                    <a:pt x="416324" y="405788"/>
                    <a:pt x="-124727" y="893015"/>
                    <a:pt x="25837" y="1080302"/>
                  </a:cubicBezTo>
                  <a:cubicBezTo>
                    <a:pt x="176401" y="1267589"/>
                    <a:pt x="1403253" y="1134737"/>
                    <a:pt x="1684183" y="1123720"/>
                  </a:cubicBezTo>
                </a:path>
              </a:pathLst>
            </a:custGeom>
            <a:noFill/>
            <a:ln cap="flat" cmpd="sng" w="635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7"/>
            <p:cNvSpPr/>
            <p:nvPr/>
          </p:nvSpPr>
          <p:spPr>
            <a:xfrm>
              <a:off x="4585939" y="2442604"/>
              <a:ext cx="2243400" cy="1530000"/>
            </a:xfrm>
            <a:prstGeom prst="cloudCallout">
              <a:avLst>
                <a:gd fmla="val -53467" name="adj1"/>
                <a:gd fmla="val 48009" name="adj2"/>
              </a:avLst>
            </a:prstGeom>
            <a:noFill/>
            <a:ln cap="flat" cmpd="sng" w="952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7" name="Google Shape;407;p7"/>
          <p:cNvGrpSpPr/>
          <p:nvPr/>
        </p:nvGrpSpPr>
        <p:grpSpPr>
          <a:xfrm>
            <a:off x="1185315" y="4164973"/>
            <a:ext cx="2243400" cy="1530000"/>
            <a:chOff x="720889" y="3143378"/>
            <a:chExt cx="2243400" cy="1530000"/>
          </a:xfrm>
        </p:grpSpPr>
        <p:grpSp>
          <p:nvGrpSpPr>
            <p:cNvPr id="408" name="Google Shape;408;p7"/>
            <p:cNvGrpSpPr/>
            <p:nvPr/>
          </p:nvGrpSpPr>
          <p:grpSpPr>
            <a:xfrm>
              <a:off x="925538" y="3271280"/>
              <a:ext cx="1670213" cy="1049000"/>
              <a:chOff x="4505794" y="610502"/>
              <a:chExt cx="4728802" cy="2969989"/>
            </a:xfrm>
          </p:grpSpPr>
          <p:cxnSp>
            <p:nvCxnSpPr>
              <p:cNvPr id="409" name="Google Shape;409;p7"/>
              <p:cNvCxnSpPr/>
              <p:nvPr/>
            </p:nvCxnSpPr>
            <p:spPr>
              <a:xfrm flipH="1">
                <a:off x="5755392" y="1758093"/>
                <a:ext cx="1012200" cy="12198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B0F0"/>
                </a:solidFill>
                <a:prstDash val="solid"/>
                <a:round/>
                <a:headEnd len="med" w="med" type="triangl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410" name="Google Shape;410;p7"/>
              <p:cNvCxnSpPr/>
              <p:nvPr/>
            </p:nvCxnSpPr>
            <p:spPr>
              <a:xfrm rot="10800000">
                <a:off x="6868732" y="1715334"/>
                <a:ext cx="1113600" cy="12627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411" name="Google Shape;411;p7"/>
              <p:cNvCxnSpPr/>
              <p:nvPr/>
            </p:nvCxnSpPr>
            <p:spPr>
              <a:xfrm flipH="1" rot="10800000">
                <a:off x="5755248" y="2945034"/>
                <a:ext cx="2085000" cy="330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B050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412" name="Google Shape;412;p7"/>
              <p:cNvCxnSpPr/>
              <p:nvPr/>
            </p:nvCxnSpPr>
            <p:spPr>
              <a:xfrm flipH="1" rot="10800000">
                <a:off x="4807022" y="2977890"/>
                <a:ext cx="948300" cy="3357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413" name="Google Shape;413;p7"/>
              <p:cNvCxnSpPr/>
              <p:nvPr/>
            </p:nvCxnSpPr>
            <p:spPr>
              <a:xfrm>
                <a:off x="6887757" y="990595"/>
                <a:ext cx="0" cy="6756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414" name="Google Shape;414;p7"/>
              <p:cNvCxnSpPr/>
              <p:nvPr/>
            </p:nvCxnSpPr>
            <p:spPr>
              <a:xfrm rot="10800000">
                <a:off x="7965867" y="2978016"/>
                <a:ext cx="967500" cy="3846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pic>
            <p:nvPicPr>
              <p:cNvPr id="415" name="Google Shape;415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645001" y="1566451"/>
                <a:ext cx="447579" cy="2976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6" name="Google Shape;416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531459" y="2833389"/>
                <a:ext cx="447579" cy="2976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7" name="Google Shape;417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758543" y="2829215"/>
                <a:ext cx="447579" cy="2976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Computer Icon | Vista Hardware Devices Iconset | Icons-Land" id="418" name="Google Shape;418;p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505794" y="2978034"/>
                <a:ext cx="602457" cy="6024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Computer Icon | Vista Hardware Devices Iconset | Icons-Land" id="419" name="Google Shape;419;p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632139" y="2978034"/>
                <a:ext cx="602457" cy="6024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Computer Icon | Vista Hardware Devices Iconset | Icons-Land" id="420" name="Google Shape;420;p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530423" y="610502"/>
                <a:ext cx="602457" cy="6024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21" name="Google Shape;421;p7"/>
            <p:cNvSpPr/>
            <p:nvPr/>
          </p:nvSpPr>
          <p:spPr>
            <a:xfrm>
              <a:off x="720889" y="3143378"/>
              <a:ext cx="2243400" cy="1530000"/>
            </a:xfrm>
            <a:prstGeom prst="cloudCallout">
              <a:avLst>
                <a:gd fmla="val 43763" name="adj1"/>
                <a:gd fmla="val 53769" name="adj2"/>
              </a:avLst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"/>
          <p:cNvSpPr txBox="1"/>
          <p:nvPr>
            <p:ph type="title"/>
          </p:nvPr>
        </p:nvSpPr>
        <p:spPr>
          <a:xfrm>
            <a:off x="3879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300"/>
              <a:t>Distance Vector vs Link State</a:t>
            </a:r>
            <a:endParaRPr sz="3300"/>
          </a:p>
        </p:txBody>
      </p:sp>
      <p:pic>
        <p:nvPicPr>
          <p:cNvPr id="427" name="Google Shape;427;p8"/>
          <p:cNvPicPr preferRelativeResize="0"/>
          <p:nvPr/>
        </p:nvPicPr>
        <p:blipFill rotWithShape="1">
          <a:blip r:embed="rId3">
            <a:alphaModFix/>
          </a:blip>
          <a:srcRect b="0" l="0" r="0" t="24720"/>
          <a:stretch/>
        </p:blipFill>
        <p:spPr>
          <a:xfrm>
            <a:off x="152400" y="2477226"/>
            <a:ext cx="8839199" cy="29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9"/>
          <p:cNvSpPr txBox="1"/>
          <p:nvPr>
            <p:ph type="title"/>
          </p:nvPr>
        </p:nvSpPr>
        <p:spPr>
          <a:xfrm>
            <a:off x="1458450" y="701800"/>
            <a:ext cx="62271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IP Addressing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1400"/>
              <a:buFont typeface="Calibri"/>
              <a:buNone/>
            </a:pPr>
            <a:r>
              <a:rPr i="0" lang="en" sz="4400" u="none" cap="none" strike="noStrike">
                <a:solidFill>
                  <a:srgbClr val="EF6C00"/>
                </a:solidFill>
              </a:rPr>
              <a:t>Requirements of Addressing</a:t>
            </a:r>
            <a:endParaRPr i="0" sz="4400" u="none" cap="none" strike="noStrike">
              <a:solidFill>
                <a:srgbClr val="EF6C00"/>
              </a:solidFill>
            </a:endParaRPr>
          </a:p>
        </p:txBody>
      </p:sp>
      <p:sp>
        <p:nvSpPr>
          <p:cNvPr id="439" name="Google Shape;439;p1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Open Sans"/>
              <a:buChar char="•"/>
            </a:pPr>
            <a:r>
              <a:rPr i="0" lang="en" sz="2400" u="none" cap="none" strike="noStrike">
                <a:solidFill>
                  <a:srgbClr val="695D46"/>
                </a:solidFill>
              </a:rPr>
              <a:t>Scalable Routing</a:t>
            </a:r>
            <a:endParaRPr i="0" sz="2400" u="none" cap="none" strike="noStrike">
              <a:solidFill>
                <a:srgbClr val="695D46"/>
              </a:solidFill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Open Sans"/>
              <a:buChar char="–"/>
            </a:pPr>
            <a:r>
              <a:rPr lang="en"/>
              <a:t>Minimize state exchange needed to </a:t>
            </a:r>
            <a:r>
              <a:rPr i="0" lang="en" sz="2000" u="none" cap="none" strike="noStrike">
                <a:solidFill>
                  <a:srgbClr val="695D46"/>
                </a:solidFill>
              </a:rPr>
              <a:t>create paths</a:t>
            </a:r>
            <a:endParaRPr i="0" sz="2000" u="none" cap="none" strike="noStrike">
              <a:solidFill>
                <a:srgbClr val="695D46"/>
              </a:solidFill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Open Sans"/>
              <a:buChar char="•"/>
            </a:pPr>
            <a:r>
              <a:rPr i="0" lang="en" sz="2400" u="none" cap="none" strike="noStrike">
                <a:solidFill>
                  <a:srgbClr val="695D46"/>
                </a:solidFill>
              </a:rPr>
              <a:t>Efficient Forwarding</a:t>
            </a:r>
            <a:endParaRPr i="0" sz="2400" u="none" cap="none" strike="noStrike">
              <a:solidFill>
                <a:srgbClr val="695D46"/>
              </a:solidFill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Open Sans"/>
              <a:buChar char="–"/>
            </a:pPr>
            <a:r>
              <a:rPr lang="en"/>
              <a:t>Small </a:t>
            </a:r>
            <a:r>
              <a:rPr i="0" lang="en" sz="2000" u="none" cap="none" strike="noStrike">
                <a:solidFill>
                  <a:srgbClr val="695D46"/>
                </a:solidFill>
              </a:rPr>
              <a:t>forwarding tables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Open Sans"/>
              <a:buChar char="–"/>
            </a:pPr>
            <a:r>
              <a:rPr lang="en"/>
              <a:t>Fast lookups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Open Sans"/>
              <a:buChar char="•"/>
            </a:pPr>
            <a:r>
              <a:rPr i="0" lang="en" sz="2400" u="none" cap="none" strike="noStrike">
                <a:solidFill>
                  <a:srgbClr val="695D46"/>
                </a:solidFill>
              </a:rPr>
              <a:t>Host must be able to recognize packet is for them</a:t>
            </a:r>
            <a:endParaRPr i="0" sz="2400" u="none" cap="none" strike="noStrike">
              <a:solidFill>
                <a:srgbClr val="695D46"/>
              </a:solidFill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Open Sans"/>
              <a:buChar char="–"/>
            </a:pPr>
            <a:r>
              <a:rPr i="0" lang="en" sz="2000" u="none" cap="none" strike="noStrike">
                <a:solidFill>
                  <a:srgbClr val="695D46"/>
                </a:solidFill>
              </a:rPr>
              <a:t>An end-to-end check on routing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Open Sans"/>
              <a:buChar char="–"/>
            </a:pPr>
            <a:r>
              <a:rPr i="0" lang="en" sz="2000" u="none" cap="none" strike="noStrike">
                <a:solidFill>
                  <a:srgbClr val="695D46"/>
                </a:solidFill>
              </a:rPr>
              <a:t>L3: IP addresses (dynamically assigned)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1"/>
          <p:cNvSpPr txBox="1"/>
          <p:nvPr>
            <p:ph idx="1" type="body"/>
          </p:nvPr>
        </p:nvSpPr>
        <p:spPr>
          <a:xfrm>
            <a:off x="457200" y="1276644"/>
            <a:ext cx="8229600" cy="4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Open Sans"/>
              <a:buChar char="•"/>
            </a:pPr>
            <a:r>
              <a:rPr i="0" lang="en" u="none" cap="none" strike="noStrike">
                <a:solidFill>
                  <a:srgbClr val="695D46"/>
                </a:solidFill>
              </a:rPr>
              <a:t>32 bits</a:t>
            </a:r>
            <a:r>
              <a:rPr lang="en"/>
              <a:t> (for IPv4), split into 4 bytes, written in decimal (each decimal between 0 and 255)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Open Sans"/>
              <a:buChar char="•"/>
            </a:pPr>
            <a:r>
              <a:rPr lang="en"/>
              <a:t>Network prefix: /&lt;bits&gt;</a:t>
            </a:r>
            <a:endParaRPr/>
          </a:p>
          <a:p>
            <a:pPr indent="-2984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Open Sans"/>
              <a:buChar char="–"/>
            </a:pPr>
            <a:r>
              <a:rPr lang="en"/>
              <a:t>Size of network address, counting from the leftmost bit</a:t>
            </a:r>
            <a:endParaRPr sz="1600"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Open Sans"/>
              <a:buChar char="–"/>
            </a:pPr>
            <a:r>
              <a:rPr i="0" lang="en" u="none" cap="none" strike="noStrike">
                <a:solidFill>
                  <a:srgbClr val="695D46"/>
                </a:solidFill>
              </a:rPr>
              <a:t>Example: 1.2.</a:t>
            </a:r>
            <a:r>
              <a:rPr lang="en"/>
              <a:t>2</a:t>
            </a:r>
            <a:r>
              <a:rPr i="0" lang="en" u="none" cap="none" strike="noStrike">
                <a:solidFill>
                  <a:srgbClr val="695D46"/>
                </a:solidFill>
              </a:rPr>
              <a:t>.0/23</a:t>
            </a:r>
            <a:endParaRPr i="0" u="none" cap="none" strike="noStrike">
              <a:solidFill>
                <a:srgbClr val="695D46"/>
              </a:solidFill>
            </a:endParaRPr>
          </a:p>
        </p:txBody>
      </p:sp>
      <p:grpSp>
        <p:nvGrpSpPr>
          <p:cNvPr id="447" name="Google Shape;447;p11"/>
          <p:cNvGrpSpPr/>
          <p:nvPr/>
        </p:nvGrpSpPr>
        <p:grpSpPr>
          <a:xfrm>
            <a:off x="935501" y="3248213"/>
            <a:ext cx="7272900" cy="2602500"/>
            <a:chOff x="970669" y="2812115"/>
            <a:chExt cx="7272900" cy="2602500"/>
          </a:xfrm>
        </p:grpSpPr>
        <p:sp>
          <p:nvSpPr>
            <p:cNvPr id="448" name="Google Shape;448;p11"/>
            <p:cNvSpPr txBox="1"/>
            <p:nvPr/>
          </p:nvSpPr>
          <p:spPr>
            <a:xfrm>
              <a:off x="970669" y="2812115"/>
              <a:ext cx="7272900" cy="26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95D46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695D46"/>
                </a:buClr>
                <a:buSzPts val="4000"/>
                <a:buFont typeface="Arial"/>
                <a:buNone/>
              </a:pPr>
              <a:r>
                <a:rPr b="1" i="0" lang="en" sz="40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     1.2.</a:t>
              </a:r>
              <a:r>
                <a:rPr b="1" lang="en" sz="4000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i="0" lang="en" sz="40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.0/23</a:t>
              </a:r>
              <a:endParaRPr b="1" i="0" sz="4000" u="none" cap="none" strike="noStrike">
                <a:solidFill>
                  <a:srgbClr val="3D6DC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695D46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695D46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0000 0001  0000 0010  0000 001</a:t>
              </a:r>
              <a:r>
                <a:rPr lang="en" sz="2400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0" i="0" lang="en" sz="2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  0000 0000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9" name="Google Shape;449;p11"/>
            <p:cNvGrpSpPr/>
            <p:nvPr/>
          </p:nvGrpSpPr>
          <p:grpSpPr>
            <a:xfrm>
              <a:off x="1828838" y="3827894"/>
              <a:ext cx="2127704" cy="701974"/>
              <a:chOff x="1561553" y="4587549"/>
              <a:chExt cx="2127704" cy="701974"/>
            </a:xfrm>
          </p:grpSpPr>
          <p:cxnSp>
            <p:nvCxnSpPr>
              <p:cNvPr id="450" name="Google Shape;450;p11"/>
              <p:cNvCxnSpPr/>
              <p:nvPr/>
            </p:nvCxnSpPr>
            <p:spPr>
              <a:xfrm flipH="1">
                <a:off x="2236657" y="4587549"/>
                <a:ext cx="1452600" cy="27990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2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6862"/>
                  </a:srgbClr>
                </a:outerShdw>
              </a:effectLst>
            </p:spPr>
          </p:cxnSp>
          <p:sp>
            <p:nvSpPr>
              <p:cNvPr id="451" name="Google Shape;451;p11"/>
              <p:cNvSpPr/>
              <p:nvPr/>
            </p:nvSpPr>
            <p:spPr>
              <a:xfrm rot="5400000">
                <a:off x="1946603" y="4482373"/>
                <a:ext cx="422100" cy="119220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254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686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11"/>
            <p:cNvGrpSpPr/>
            <p:nvPr/>
          </p:nvGrpSpPr>
          <p:grpSpPr>
            <a:xfrm>
              <a:off x="3267192" y="3827893"/>
              <a:ext cx="1220400" cy="701976"/>
              <a:chOff x="2999907" y="4587548"/>
              <a:chExt cx="1220400" cy="701976"/>
            </a:xfrm>
          </p:grpSpPr>
          <p:cxnSp>
            <p:nvCxnSpPr>
              <p:cNvPr id="453" name="Google Shape;453;p11"/>
              <p:cNvCxnSpPr/>
              <p:nvPr/>
            </p:nvCxnSpPr>
            <p:spPr>
              <a:xfrm flipH="1">
                <a:off x="3675321" y="4587548"/>
                <a:ext cx="426300" cy="27990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2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6862"/>
                  </a:srgbClr>
                </a:outerShdw>
              </a:effectLst>
            </p:spPr>
          </p:cxnSp>
          <p:sp>
            <p:nvSpPr>
              <p:cNvPr id="454" name="Google Shape;454;p11"/>
              <p:cNvSpPr/>
              <p:nvPr/>
            </p:nvSpPr>
            <p:spPr>
              <a:xfrm rot="5400000">
                <a:off x="3399057" y="4468274"/>
                <a:ext cx="422100" cy="122040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254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686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1"/>
            <p:cNvGrpSpPr/>
            <p:nvPr/>
          </p:nvGrpSpPr>
          <p:grpSpPr>
            <a:xfrm>
              <a:off x="4702099" y="3827893"/>
              <a:ext cx="1220400" cy="729796"/>
              <a:chOff x="4434814" y="4587548"/>
              <a:chExt cx="1220400" cy="729796"/>
            </a:xfrm>
          </p:grpSpPr>
          <p:cxnSp>
            <p:nvCxnSpPr>
              <p:cNvPr id="456" name="Google Shape;456;p11"/>
              <p:cNvCxnSpPr/>
              <p:nvPr/>
            </p:nvCxnSpPr>
            <p:spPr>
              <a:xfrm>
                <a:off x="4547388" y="4587548"/>
                <a:ext cx="418500" cy="30780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2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6862"/>
                  </a:srgbClr>
                </a:outerShdw>
              </a:effectLst>
            </p:spPr>
          </p:cxnSp>
          <p:sp>
            <p:nvSpPr>
              <p:cNvPr id="457" name="Google Shape;457;p11"/>
              <p:cNvSpPr/>
              <p:nvPr/>
            </p:nvSpPr>
            <p:spPr>
              <a:xfrm rot="5400000">
                <a:off x="4833964" y="4496094"/>
                <a:ext cx="422100" cy="122040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254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686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8" name="Google Shape;458;p11"/>
            <p:cNvGrpSpPr/>
            <p:nvPr/>
          </p:nvGrpSpPr>
          <p:grpSpPr>
            <a:xfrm>
              <a:off x="5213838" y="3827894"/>
              <a:ext cx="2175215" cy="701974"/>
              <a:chOff x="4946553" y="4587549"/>
              <a:chExt cx="2175215" cy="701974"/>
            </a:xfrm>
          </p:grpSpPr>
          <p:cxnSp>
            <p:nvCxnSpPr>
              <p:cNvPr id="459" name="Google Shape;459;p11"/>
              <p:cNvCxnSpPr/>
              <p:nvPr/>
            </p:nvCxnSpPr>
            <p:spPr>
              <a:xfrm>
                <a:off x="4946553" y="4587549"/>
                <a:ext cx="1468200" cy="30780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2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6862"/>
                  </a:srgbClr>
                </a:outerShdw>
              </a:effectLst>
            </p:spPr>
          </p:cxnSp>
          <p:sp>
            <p:nvSpPr>
              <p:cNvPr id="460" name="Google Shape;460;p11"/>
              <p:cNvSpPr/>
              <p:nvPr/>
            </p:nvSpPr>
            <p:spPr>
              <a:xfrm rot="5400000">
                <a:off x="6300518" y="4468273"/>
                <a:ext cx="422100" cy="122040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254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686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1" name="Google Shape;461;p11"/>
          <p:cNvGrpSpPr/>
          <p:nvPr/>
        </p:nvGrpSpPr>
        <p:grpSpPr>
          <a:xfrm>
            <a:off x="1793634" y="5245889"/>
            <a:ext cx="3946800" cy="604830"/>
            <a:chOff x="1793634" y="5245889"/>
            <a:chExt cx="3946800" cy="604830"/>
          </a:xfrm>
        </p:grpSpPr>
        <p:sp>
          <p:nvSpPr>
            <p:cNvPr id="462" name="Google Shape;462;p11"/>
            <p:cNvSpPr/>
            <p:nvPr/>
          </p:nvSpPr>
          <p:spPr>
            <a:xfrm rot="-5400000">
              <a:off x="3603834" y="3435689"/>
              <a:ext cx="326400" cy="3946800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25400">
              <a:solidFill>
                <a:srgbClr val="EF6C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86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1"/>
            <p:cNvSpPr txBox="1"/>
            <p:nvPr/>
          </p:nvSpPr>
          <p:spPr>
            <a:xfrm>
              <a:off x="2307187" y="5542919"/>
              <a:ext cx="2505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first 23 bits for network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4" name="Google Shape;464;p11"/>
          <p:cNvGrpSpPr/>
          <p:nvPr/>
        </p:nvGrpSpPr>
        <p:grpSpPr>
          <a:xfrm>
            <a:off x="5740404" y="5245660"/>
            <a:ext cx="2311500" cy="627783"/>
            <a:chOff x="5740404" y="5245660"/>
            <a:chExt cx="2311500" cy="627783"/>
          </a:xfrm>
        </p:grpSpPr>
        <p:sp>
          <p:nvSpPr>
            <p:cNvPr id="465" name="Google Shape;465;p11"/>
            <p:cNvSpPr/>
            <p:nvPr/>
          </p:nvSpPr>
          <p:spPr>
            <a:xfrm rot="-5400000">
              <a:off x="6434902" y="4678210"/>
              <a:ext cx="351600" cy="1486500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25400">
              <a:solidFill>
                <a:srgbClr val="EF6C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86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1"/>
            <p:cNvSpPr txBox="1"/>
            <p:nvPr/>
          </p:nvSpPr>
          <p:spPr>
            <a:xfrm>
              <a:off x="5740404" y="5565643"/>
              <a:ext cx="2311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last 9 bits for host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Network prefixes (netmasks)</a:t>
            </a:r>
            <a:endParaRPr/>
          </a:p>
        </p:txBody>
      </p:sp>
      <p:sp>
        <p:nvSpPr>
          <p:cNvPr id="473" name="Google Shape;473;p1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Prefix dedicated to network address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How can we tell if a host is in a network?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Check if the prefix matches!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accent5"/>
                </a:solidFill>
              </a:rPr>
              <a:t>Mask: 123.96.0.0/12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01111011 . 0110</a:t>
            </a:r>
            <a:r>
              <a:rPr lang="en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0000 . 00000000 . 00000000</a:t>
            </a:r>
            <a:endParaRPr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"/>
              <a:t>Addr: 123.100.42.6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01111011 . 0110</a:t>
            </a:r>
            <a:r>
              <a:rPr lang="en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0100 . 00101010 . 00000110</a:t>
            </a:r>
            <a:endParaRPr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1400"/>
              <a:buFont typeface="Calibri"/>
              <a:buNone/>
            </a:pPr>
            <a:r>
              <a:rPr b="1" i="0" lang="en" sz="44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Classful Addressing</a:t>
            </a:r>
            <a:endParaRPr/>
          </a:p>
        </p:txBody>
      </p:sp>
      <p:sp>
        <p:nvSpPr>
          <p:cNvPr id="480" name="Google Shape;480;p13"/>
          <p:cNvSpPr txBox="1"/>
          <p:nvPr>
            <p:ph idx="1" type="body"/>
          </p:nvPr>
        </p:nvSpPr>
        <p:spPr>
          <a:xfrm>
            <a:off x="457200" y="1417638"/>
            <a:ext cx="8229600" cy="3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220"/>
              <a:buFont typeface="Arial"/>
              <a:buChar char="•"/>
            </a:pPr>
            <a:r>
              <a:rPr b="0" i="0" lang="en" sz="22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Network classes: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–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 (/8): first 8 bits devoted to network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First bit is fixed to </a:t>
            </a:r>
            <a:r>
              <a:rPr b="1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first byte from </a:t>
            </a: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to 12</a:t>
            </a: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Can have ~16M hosts, only 2^7 = 12</a:t>
            </a: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nets. </a:t>
            </a:r>
            <a:endParaRPr/>
          </a:p>
          <a:p>
            <a:pPr indent="-111125" lvl="2" marL="114300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None/>
            </a:pPr>
            <a:r>
              <a:t/>
            </a:r>
            <a:endParaRPr b="0" i="0" sz="30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–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B (/16): first 16 bits devoted to network (first byte from 128 to 191)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First two bits are fixed to </a:t>
            </a:r>
            <a:r>
              <a:rPr b="1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Can have ~65K hosts, ~16K nets</a:t>
            </a:r>
            <a:endParaRPr/>
          </a:p>
          <a:p>
            <a:pPr indent="-111125" lvl="2" marL="114300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None/>
            </a:pPr>
            <a:r>
              <a:t/>
            </a:r>
            <a:endParaRPr b="0" i="0" sz="30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–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 (/24): first 24 bits devoted to network (first byte from 192 to 223)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First three bits are fixed to </a:t>
            </a:r>
            <a:r>
              <a:rPr b="1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110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Can have only 254 hosts (255 is reserved for last byte) ~2M nets</a:t>
            </a:r>
            <a:endParaRPr/>
          </a:p>
        </p:txBody>
      </p:sp>
      <p:pic>
        <p:nvPicPr>
          <p:cNvPr id="481" name="Google Shape;4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5298" y="2869598"/>
            <a:ext cx="3153106" cy="365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0253" y="4115848"/>
            <a:ext cx="3129884" cy="365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04109" y="5367728"/>
            <a:ext cx="3310979" cy="365699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3"/>
          <p:cNvSpPr txBox="1"/>
          <p:nvPr/>
        </p:nvSpPr>
        <p:spPr>
          <a:xfrm>
            <a:off x="640465" y="5830336"/>
            <a:ext cx="69540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Why is this a bad idea?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3"/>
          <p:cNvSpPr txBox="1"/>
          <p:nvPr/>
        </p:nvSpPr>
        <p:spPr>
          <a:xfrm>
            <a:off x="1087860" y="6245039"/>
            <a:ext cx="69540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Very limited choices lead to waste of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6" name="Google Shape;486;p13"/>
          <p:cNvGrpSpPr/>
          <p:nvPr/>
        </p:nvGrpSpPr>
        <p:grpSpPr>
          <a:xfrm>
            <a:off x="317551" y="2660904"/>
            <a:ext cx="2176697" cy="582712"/>
            <a:chOff x="317001" y="2652586"/>
            <a:chExt cx="2176697" cy="582712"/>
          </a:xfrm>
        </p:grpSpPr>
        <p:sp>
          <p:nvSpPr>
            <p:cNvPr id="487" name="Google Shape;487;p13"/>
            <p:cNvSpPr/>
            <p:nvPr/>
          </p:nvSpPr>
          <p:spPr>
            <a:xfrm>
              <a:off x="1675298" y="2869598"/>
              <a:ext cx="818400" cy="365700"/>
            </a:xfrm>
            <a:prstGeom prst="frame">
              <a:avLst>
                <a:gd fmla="val 12500" name="adj1"/>
              </a:avLst>
            </a:prstGeom>
            <a:gradFill>
              <a:gsLst>
                <a:gs pos="0">
                  <a:srgbClr val="FF6800"/>
                </a:gs>
                <a:gs pos="100000">
                  <a:srgbClr val="FF976D"/>
                </a:gs>
              </a:gsLst>
              <a:lin ang="16200038" scaled="0"/>
            </a:gradFill>
            <a:ln cap="flat" cmpd="sng" w="9525">
              <a:solidFill>
                <a:srgbClr val="EE68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8" name="Google Shape;488;p13"/>
            <p:cNvGrpSpPr/>
            <p:nvPr/>
          </p:nvGrpSpPr>
          <p:grpSpPr>
            <a:xfrm>
              <a:off x="317001" y="2652586"/>
              <a:ext cx="1413300" cy="505500"/>
              <a:chOff x="317001" y="2652586"/>
              <a:chExt cx="1413300" cy="505500"/>
            </a:xfrm>
          </p:grpSpPr>
          <p:sp>
            <p:nvSpPr>
              <p:cNvPr id="489" name="Google Shape;489;p13"/>
              <p:cNvSpPr/>
              <p:nvPr/>
            </p:nvSpPr>
            <p:spPr>
              <a:xfrm>
                <a:off x="359667" y="2652586"/>
                <a:ext cx="914400" cy="505500"/>
              </a:xfrm>
              <a:prstGeom prst="wedgeRectCallout">
                <a:avLst>
                  <a:gd fmla="val 87880" name="adj1"/>
                  <a:gd fmla="val 26861" name="adj2"/>
                </a:avLst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38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13"/>
              <p:cNvSpPr txBox="1"/>
              <p:nvPr/>
            </p:nvSpPr>
            <p:spPr>
              <a:xfrm>
                <a:off x="317001" y="2766770"/>
                <a:ext cx="14133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 bits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1" name="Google Shape;491;p13"/>
          <p:cNvGrpSpPr/>
          <p:nvPr/>
        </p:nvGrpSpPr>
        <p:grpSpPr>
          <a:xfrm>
            <a:off x="317551" y="3968496"/>
            <a:ext cx="2938701" cy="530082"/>
            <a:chOff x="317001" y="3848218"/>
            <a:chExt cx="2938701" cy="530082"/>
          </a:xfrm>
        </p:grpSpPr>
        <p:sp>
          <p:nvSpPr>
            <p:cNvPr id="492" name="Google Shape;492;p13"/>
            <p:cNvSpPr/>
            <p:nvPr/>
          </p:nvSpPr>
          <p:spPr>
            <a:xfrm>
              <a:off x="1689702" y="4000300"/>
              <a:ext cx="1566000" cy="378000"/>
            </a:xfrm>
            <a:prstGeom prst="frame">
              <a:avLst>
                <a:gd fmla="val 12500" name="adj1"/>
              </a:avLst>
            </a:prstGeom>
            <a:gradFill>
              <a:gsLst>
                <a:gs pos="0">
                  <a:srgbClr val="FF6800"/>
                </a:gs>
                <a:gs pos="100000">
                  <a:srgbClr val="FF976D"/>
                </a:gs>
              </a:gsLst>
              <a:lin ang="16200038" scaled="0"/>
            </a:gradFill>
            <a:ln cap="flat" cmpd="sng" w="9525">
              <a:solidFill>
                <a:srgbClr val="EE68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3" name="Google Shape;493;p13"/>
            <p:cNvGrpSpPr/>
            <p:nvPr/>
          </p:nvGrpSpPr>
          <p:grpSpPr>
            <a:xfrm>
              <a:off x="317001" y="3848218"/>
              <a:ext cx="1413300" cy="505500"/>
              <a:chOff x="317001" y="3848218"/>
              <a:chExt cx="1413300" cy="505500"/>
            </a:xfrm>
          </p:grpSpPr>
          <p:sp>
            <p:nvSpPr>
              <p:cNvPr id="494" name="Google Shape;494;p13"/>
              <p:cNvSpPr/>
              <p:nvPr/>
            </p:nvSpPr>
            <p:spPr>
              <a:xfrm>
                <a:off x="359667" y="3848218"/>
                <a:ext cx="914400" cy="505500"/>
              </a:xfrm>
              <a:prstGeom prst="wedgeRectCallout">
                <a:avLst>
                  <a:gd fmla="val 87880" name="adj1"/>
                  <a:gd fmla="val 26861" name="adj2"/>
                </a:avLst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38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13"/>
              <p:cNvSpPr txBox="1"/>
              <p:nvPr/>
            </p:nvSpPr>
            <p:spPr>
              <a:xfrm>
                <a:off x="317001" y="3962402"/>
                <a:ext cx="14133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 bits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6" name="Google Shape;496;p13"/>
          <p:cNvGrpSpPr/>
          <p:nvPr/>
        </p:nvGrpSpPr>
        <p:grpSpPr>
          <a:xfrm>
            <a:off x="317552" y="5172852"/>
            <a:ext cx="3852556" cy="560612"/>
            <a:chOff x="317552" y="5049027"/>
            <a:chExt cx="3852556" cy="560612"/>
          </a:xfrm>
        </p:grpSpPr>
        <p:sp>
          <p:nvSpPr>
            <p:cNvPr id="497" name="Google Shape;497;p13"/>
            <p:cNvSpPr/>
            <p:nvPr/>
          </p:nvSpPr>
          <p:spPr>
            <a:xfrm>
              <a:off x="1704108" y="5227439"/>
              <a:ext cx="2466000" cy="382200"/>
            </a:xfrm>
            <a:prstGeom prst="frame">
              <a:avLst>
                <a:gd fmla="val 12500" name="adj1"/>
              </a:avLst>
            </a:prstGeom>
            <a:gradFill>
              <a:gsLst>
                <a:gs pos="0">
                  <a:srgbClr val="FF6800"/>
                </a:gs>
                <a:gs pos="100000">
                  <a:srgbClr val="FF976D"/>
                </a:gs>
              </a:gsLst>
              <a:lin ang="16200038" scaled="0"/>
            </a:gradFill>
            <a:ln cap="flat" cmpd="sng" w="9525">
              <a:solidFill>
                <a:srgbClr val="EE68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8" name="Google Shape;498;p13"/>
            <p:cNvGrpSpPr/>
            <p:nvPr/>
          </p:nvGrpSpPr>
          <p:grpSpPr>
            <a:xfrm>
              <a:off x="317552" y="5049027"/>
              <a:ext cx="1413300" cy="505500"/>
              <a:chOff x="317552" y="5049027"/>
              <a:chExt cx="1413300" cy="505500"/>
            </a:xfrm>
          </p:grpSpPr>
          <p:sp>
            <p:nvSpPr>
              <p:cNvPr id="499" name="Google Shape;499;p13"/>
              <p:cNvSpPr/>
              <p:nvPr/>
            </p:nvSpPr>
            <p:spPr>
              <a:xfrm>
                <a:off x="360218" y="5049027"/>
                <a:ext cx="914400" cy="505500"/>
              </a:xfrm>
              <a:prstGeom prst="wedgeRectCallout">
                <a:avLst>
                  <a:gd fmla="val 87880" name="adj1"/>
                  <a:gd fmla="val 26861" name="adj2"/>
                </a:avLst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38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13"/>
              <p:cNvSpPr txBox="1"/>
              <p:nvPr/>
            </p:nvSpPr>
            <p:spPr>
              <a:xfrm>
                <a:off x="317552" y="5163211"/>
                <a:ext cx="14133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 bits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01" name="Google Shape;501;p13"/>
          <p:cNvGrpSpPr/>
          <p:nvPr/>
        </p:nvGrpSpPr>
        <p:grpSpPr>
          <a:xfrm>
            <a:off x="2491410" y="2595363"/>
            <a:ext cx="5299877" cy="664835"/>
            <a:chOff x="2491410" y="2595363"/>
            <a:chExt cx="5299877" cy="664835"/>
          </a:xfrm>
        </p:grpSpPr>
        <p:sp>
          <p:nvSpPr>
            <p:cNvPr id="502" name="Google Shape;502;p13"/>
            <p:cNvSpPr/>
            <p:nvPr/>
          </p:nvSpPr>
          <p:spPr>
            <a:xfrm>
              <a:off x="2491410" y="2869598"/>
              <a:ext cx="2328900" cy="390600"/>
            </a:xfrm>
            <a:prstGeom prst="frame">
              <a:avLst>
                <a:gd fmla="val 12500" name="adj1"/>
              </a:avLst>
            </a:prstGeom>
            <a:solidFill>
              <a:schemeClr val="accent6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3"/>
            <p:cNvSpPr/>
            <p:nvPr/>
          </p:nvSpPr>
          <p:spPr>
            <a:xfrm>
              <a:off x="6246685" y="2595363"/>
              <a:ext cx="1456500" cy="597300"/>
            </a:xfrm>
            <a:prstGeom prst="wedgeRectCallout">
              <a:avLst>
                <a:gd fmla="val -147635" name="adj1"/>
                <a:gd fmla="val 35511" name="adj2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3"/>
            <p:cNvSpPr txBox="1"/>
            <p:nvPr/>
          </p:nvSpPr>
          <p:spPr>
            <a:xfrm>
              <a:off x="6377987" y="2731098"/>
              <a:ext cx="14133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Host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5" name="Google Shape;505;p13"/>
          <p:cNvGrpSpPr/>
          <p:nvPr/>
        </p:nvGrpSpPr>
        <p:grpSpPr>
          <a:xfrm>
            <a:off x="3260643" y="3803441"/>
            <a:ext cx="4539295" cy="702349"/>
            <a:chOff x="3260093" y="3700178"/>
            <a:chExt cx="4539295" cy="702349"/>
          </a:xfrm>
        </p:grpSpPr>
        <p:sp>
          <p:nvSpPr>
            <p:cNvPr id="506" name="Google Shape;506;p13"/>
            <p:cNvSpPr/>
            <p:nvPr/>
          </p:nvSpPr>
          <p:spPr>
            <a:xfrm>
              <a:off x="3260093" y="4008627"/>
              <a:ext cx="1574700" cy="393900"/>
            </a:xfrm>
            <a:prstGeom prst="frame">
              <a:avLst>
                <a:gd fmla="val 12500" name="adj1"/>
              </a:avLst>
            </a:prstGeom>
            <a:solidFill>
              <a:schemeClr val="accent6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3"/>
            <p:cNvSpPr/>
            <p:nvPr/>
          </p:nvSpPr>
          <p:spPr>
            <a:xfrm>
              <a:off x="6254786" y="3700178"/>
              <a:ext cx="1456500" cy="597300"/>
            </a:xfrm>
            <a:prstGeom prst="wedgeRectCallout">
              <a:avLst>
                <a:gd fmla="val -147635" name="adj1"/>
                <a:gd fmla="val 35511" name="adj2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3"/>
            <p:cNvSpPr txBox="1"/>
            <p:nvPr/>
          </p:nvSpPr>
          <p:spPr>
            <a:xfrm>
              <a:off x="6386088" y="3835913"/>
              <a:ext cx="14133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Host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" name="Google Shape;509;p13"/>
          <p:cNvGrpSpPr/>
          <p:nvPr/>
        </p:nvGrpSpPr>
        <p:grpSpPr>
          <a:xfrm>
            <a:off x="4181663" y="5349762"/>
            <a:ext cx="3860181" cy="696621"/>
            <a:chOff x="4181663" y="5225937"/>
            <a:chExt cx="3860181" cy="696621"/>
          </a:xfrm>
        </p:grpSpPr>
        <p:sp>
          <p:nvSpPr>
            <p:cNvPr id="510" name="Google Shape;510;p13"/>
            <p:cNvSpPr/>
            <p:nvPr/>
          </p:nvSpPr>
          <p:spPr>
            <a:xfrm>
              <a:off x="4181663" y="5225937"/>
              <a:ext cx="842100" cy="383700"/>
            </a:xfrm>
            <a:prstGeom prst="frame">
              <a:avLst>
                <a:gd fmla="val 12500" name="adj1"/>
              </a:avLst>
            </a:prstGeom>
            <a:solidFill>
              <a:schemeClr val="accent6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3"/>
            <p:cNvSpPr/>
            <p:nvPr/>
          </p:nvSpPr>
          <p:spPr>
            <a:xfrm>
              <a:off x="6497242" y="5325258"/>
              <a:ext cx="1456500" cy="597300"/>
            </a:xfrm>
            <a:prstGeom prst="wedgeRectCallout">
              <a:avLst>
                <a:gd fmla="val -147635" name="adj1"/>
                <a:gd fmla="val -29434" name="adj2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3"/>
            <p:cNvSpPr txBox="1"/>
            <p:nvPr/>
          </p:nvSpPr>
          <p:spPr>
            <a:xfrm>
              <a:off x="6628544" y="5460993"/>
              <a:ext cx="14133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Host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1400"/>
              <a:buFont typeface="Calibri"/>
              <a:buNone/>
            </a:pPr>
            <a:r>
              <a:rPr b="1" i="0" lang="en" sz="3959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Classless Inter-Domain Routing (CIDR)</a:t>
            </a:r>
            <a:endParaRPr/>
          </a:p>
        </p:txBody>
      </p:sp>
      <p:sp>
        <p:nvSpPr>
          <p:cNvPr id="519" name="Google Shape;519;p14"/>
          <p:cNvSpPr txBox="1"/>
          <p:nvPr>
            <p:ph idx="1" type="body"/>
          </p:nvPr>
        </p:nvSpPr>
        <p:spPr>
          <a:xfrm>
            <a:off x="457200" y="1600201"/>
            <a:ext cx="8229600" cy="4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220"/>
              <a:buFont typeface="Arial"/>
              <a:buChar char="•"/>
            </a:pPr>
            <a:r>
              <a:rPr b="0" i="0" lang="en" sz="22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Use two 32-bit numbers to represent a network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–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Network address = IP Address </a:t>
            </a:r>
            <a:r>
              <a:rPr b="1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bitwise AND </a:t>
            </a: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Subnet Mask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IP Address is 192.138.12.2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Subnet Mask is 255.248.0.0</a:t>
            </a:r>
            <a:endParaRPr/>
          </a:p>
          <a:p>
            <a:pPr indent="-201930" lvl="0" marL="342900" marR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695D46"/>
              </a:buClr>
              <a:buSzPts val="2220"/>
              <a:buFont typeface="Arial"/>
              <a:buNone/>
            </a:pPr>
            <a:r>
              <a:t/>
            </a:r>
            <a:endParaRPr b="0" i="0" sz="222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1930" lvl="0" marL="342900" marR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695D46"/>
              </a:buClr>
              <a:buSzPts val="2220"/>
              <a:buFont typeface="Arial"/>
              <a:buNone/>
            </a:pPr>
            <a:r>
              <a:t/>
            </a:r>
            <a:endParaRPr b="0" i="0" sz="222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1930" lvl="0" marL="342900" marR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695D46"/>
              </a:buClr>
              <a:buSzPts val="2220"/>
              <a:buFont typeface="Arial"/>
              <a:buNone/>
            </a:pPr>
            <a:r>
              <a:t/>
            </a:r>
            <a:endParaRPr b="0" i="0" sz="222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1930" lvl="0" marL="342900" marR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695D46"/>
              </a:buClr>
              <a:buSzPts val="2220"/>
              <a:buFont typeface="Arial"/>
              <a:buNone/>
            </a:pPr>
            <a:r>
              <a:t/>
            </a:r>
            <a:endParaRPr b="0" i="0" sz="222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1930" lvl="0" marL="342900" marR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695D46"/>
              </a:buClr>
              <a:buSzPts val="2220"/>
              <a:buFont typeface="Arial"/>
              <a:buNone/>
            </a:pPr>
            <a:r>
              <a:t/>
            </a:r>
            <a:endParaRPr b="0" i="0" sz="222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695D46"/>
              </a:buClr>
              <a:buSzPts val="2220"/>
              <a:buFont typeface="Arial"/>
              <a:buChar char="•"/>
            </a:pPr>
            <a:r>
              <a:rPr b="0" i="0" lang="en" sz="22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Flexible division of bits: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–"/>
            </a:pPr>
            <a:r>
              <a:rPr b="0" i="0" lang="en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More choices for the size of the network and hosts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695D46"/>
              </a:buClr>
              <a:buSzPts val="2220"/>
              <a:buFont typeface="Arial"/>
              <a:buChar char="•"/>
            </a:pPr>
            <a:r>
              <a:rPr b="0" i="0" lang="en" sz="22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Offers better size routing table and efficient IP address space</a:t>
            </a:r>
            <a:endParaRPr/>
          </a:p>
          <a:p>
            <a:pPr indent="-168275" lvl="1" marL="74295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None/>
            </a:pPr>
            <a:r>
              <a:t/>
            </a:r>
            <a:endParaRPr b="0" i="0" sz="18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1930" lvl="0" marL="342900" marR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695D46"/>
              </a:buClr>
              <a:buSzPts val="2220"/>
              <a:buFont typeface="Arial"/>
              <a:buNone/>
            </a:pPr>
            <a:r>
              <a:t/>
            </a:r>
            <a:endParaRPr b="0" i="0" sz="222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</a:pPr>
            <a:r>
              <a:t/>
            </a:r>
            <a:endParaRPr b="0" i="0" sz="18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 txBox="1"/>
          <p:nvPr/>
        </p:nvSpPr>
        <p:spPr>
          <a:xfrm>
            <a:off x="1402080" y="3173491"/>
            <a:ext cx="81840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D6DC3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3D6DC3"/>
                </a:solidFill>
                <a:latin typeface="Calibri"/>
                <a:ea typeface="Calibri"/>
                <a:cs typeface="Calibri"/>
                <a:sym typeface="Calibri"/>
              </a:rPr>
              <a:t>		1100 0000 . 1000 1</a:t>
            </a:r>
            <a:r>
              <a:rPr b="0" i="0" lang="en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010 . 0000 1100 . 0000 0010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D6DC3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3D6DC3"/>
                </a:solidFill>
                <a:latin typeface="Calibri"/>
                <a:ea typeface="Calibri"/>
                <a:cs typeface="Calibri"/>
                <a:sym typeface="Calibri"/>
              </a:rPr>
              <a:t>		1111 1111 . 1111 1</a:t>
            </a:r>
            <a:r>
              <a:rPr b="0" i="0" lang="en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000 . 0000 0000 . 0000 0000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1" name="Google Shape;521;p14"/>
          <p:cNvGrpSpPr/>
          <p:nvPr/>
        </p:nvGrpSpPr>
        <p:grpSpPr>
          <a:xfrm>
            <a:off x="960119" y="3657600"/>
            <a:ext cx="1401900" cy="814831"/>
            <a:chOff x="807719" y="3154680"/>
            <a:chExt cx="1401900" cy="814831"/>
          </a:xfrm>
        </p:grpSpPr>
        <p:sp>
          <p:nvSpPr>
            <p:cNvPr id="522" name="Google Shape;522;p14"/>
            <p:cNvSpPr txBox="1"/>
            <p:nvPr/>
          </p:nvSpPr>
          <p:spPr>
            <a:xfrm>
              <a:off x="807720" y="3154680"/>
              <a:ext cx="1162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4"/>
            <p:cNvSpPr txBox="1"/>
            <p:nvPr/>
          </p:nvSpPr>
          <p:spPr>
            <a:xfrm>
              <a:off x="807719" y="3600211"/>
              <a:ext cx="1401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Subnet Mask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4" name="Google Shape;524;p14"/>
          <p:cNvSpPr/>
          <p:nvPr/>
        </p:nvSpPr>
        <p:spPr>
          <a:xfrm rot="5400000">
            <a:off x="3521759" y="2470139"/>
            <a:ext cx="137100" cy="22377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 txBox="1"/>
          <p:nvPr/>
        </p:nvSpPr>
        <p:spPr>
          <a:xfrm>
            <a:off x="2122811" y="3124198"/>
            <a:ext cx="323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network address 192.136.0.0/13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1400"/>
              <a:buFont typeface="Calibri"/>
              <a:buNone/>
            </a:pPr>
            <a:r>
              <a:rPr b="1" i="0" lang="en" sz="44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Prefixes</a:t>
            </a:r>
            <a:endParaRPr b="1" i="0" sz="4400" u="none" cap="none" strike="noStrike">
              <a:solidFill>
                <a:srgbClr val="EF6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2" name="Google Shape;532;p15"/>
          <p:cNvCxnSpPr/>
          <p:nvPr/>
        </p:nvCxnSpPr>
        <p:spPr>
          <a:xfrm>
            <a:off x="823913" y="4273550"/>
            <a:ext cx="2590800" cy="0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15"/>
          <p:cNvCxnSpPr/>
          <p:nvPr/>
        </p:nvCxnSpPr>
        <p:spPr>
          <a:xfrm>
            <a:off x="1128713" y="396875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15"/>
          <p:cNvCxnSpPr/>
          <p:nvPr/>
        </p:nvCxnSpPr>
        <p:spPr>
          <a:xfrm>
            <a:off x="2043113" y="396875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15"/>
          <p:cNvCxnSpPr/>
          <p:nvPr/>
        </p:nvCxnSpPr>
        <p:spPr>
          <a:xfrm>
            <a:off x="3109913" y="396875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15"/>
          <p:cNvSpPr/>
          <p:nvPr/>
        </p:nvSpPr>
        <p:spPr>
          <a:xfrm>
            <a:off x="820738" y="3683000"/>
            <a:ext cx="625500" cy="349200"/>
          </a:xfrm>
          <a:prstGeom prst="rect">
            <a:avLst/>
          </a:prstGeom>
          <a:solidFill>
            <a:srgbClr val="CC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1716088" y="3663950"/>
            <a:ext cx="625500" cy="349200"/>
          </a:xfrm>
          <a:prstGeom prst="rect">
            <a:avLst/>
          </a:prstGeom>
          <a:solidFill>
            <a:srgbClr val="CC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2782888" y="3663950"/>
            <a:ext cx="625500" cy="349200"/>
          </a:xfrm>
          <a:prstGeom prst="rect">
            <a:avLst/>
          </a:prstGeom>
          <a:solidFill>
            <a:srgbClr val="CC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5"/>
          <p:cNvSpPr txBox="1"/>
          <p:nvPr/>
        </p:nvSpPr>
        <p:spPr>
          <a:xfrm>
            <a:off x="952501" y="4287838"/>
            <a:ext cx="7716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5"/>
          <p:cNvSpPr txBox="1"/>
          <p:nvPr/>
        </p:nvSpPr>
        <p:spPr>
          <a:xfrm>
            <a:off x="2349501" y="3587750"/>
            <a:ext cx="354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" name="Google Shape;541;p15"/>
          <p:cNvCxnSpPr/>
          <p:nvPr/>
        </p:nvCxnSpPr>
        <p:spPr>
          <a:xfrm>
            <a:off x="5472113" y="4273550"/>
            <a:ext cx="2590800" cy="0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15"/>
          <p:cNvCxnSpPr/>
          <p:nvPr/>
        </p:nvCxnSpPr>
        <p:spPr>
          <a:xfrm>
            <a:off x="5776913" y="396875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3" name="Google Shape;543;p15"/>
          <p:cNvCxnSpPr/>
          <p:nvPr/>
        </p:nvCxnSpPr>
        <p:spPr>
          <a:xfrm>
            <a:off x="6691313" y="396875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4" name="Google Shape;544;p15"/>
          <p:cNvCxnSpPr/>
          <p:nvPr/>
        </p:nvCxnSpPr>
        <p:spPr>
          <a:xfrm>
            <a:off x="7758113" y="3952875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5" name="Google Shape;545;p15"/>
          <p:cNvSpPr/>
          <p:nvPr/>
        </p:nvSpPr>
        <p:spPr>
          <a:xfrm>
            <a:off x="5468938" y="3683000"/>
            <a:ext cx="625500" cy="349200"/>
          </a:xfrm>
          <a:prstGeom prst="rect">
            <a:avLst/>
          </a:prstGeom>
          <a:solidFill>
            <a:srgbClr val="CC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6364288" y="3663950"/>
            <a:ext cx="625500" cy="349200"/>
          </a:xfrm>
          <a:prstGeom prst="rect">
            <a:avLst/>
          </a:prstGeom>
          <a:solidFill>
            <a:srgbClr val="CC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7431088" y="3648075"/>
            <a:ext cx="625500" cy="349200"/>
          </a:xfrm>
          <a:prstGeom prst="rect">
            <a:avLst/>
          </a:prstGeom>
          <a:solidFill>
            <a:srgbClr val="CC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5"/>
          <p:cNvSpPr txBox="1"/>
          <p:nvPr/>
        </p:nvSpPr>
        <p:spPr>
          <a:xfrm>
            <a:off x="6742113" y="4273550"/>
            <a:ext cx="7716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5"/>
          <p:cNvSpPr txBox="1"/>
          <p:nvPr/>
        </p:nvSpPr>
        <p:spPr>
          <a:xfrm>
            <a:off x="6997701" y="3587750"/>
            <a:ext cx="354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2347913" y="4578350"/>
            <a:ext cx="609600" cy="381000"/>
          </a:xfrm>
          <a:prstGeom prst="roundRect">
            <a:avLst>
              <a:gd fmla="val 16667" name="adj"/>
            </a:avLst>
          </a:prstGeom>
          <a:solidFill>
            <a:srgbClr val="FF99CC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4176713" y="4578350"/>
            <a:ext cx="609600" cy="381000"/>
          </a:xfrm>
          <a:prstGeom prst="roundRect">
            <a:avLst>
              <a:gd fmla="val 16667" name="adj"/>
            </a:avLst>
          </a:prstGeom>
          <a:solidFill>
            <a:srgbClr val="FF99CC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15"/>
          <p:cNvCxnSpPr/>
          <p:nvPr/>
        </p:nvCxnSpPr>
        <p:spPr>
          <a:xfrm>
            <a:off x="2652713" y="427355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3" name="Google Shape;553;p15"/>
          <p:cNvSpPr/>
          <p:nvPr/>
        </p:nvSpPr>
        <p:spPr>
          <a:xfrm>
            <a:off x="6005513" y="4578350"/>
            <a:ext cx="609600" cy="381000"/>
          </a:xfrm>
          <a:prstGeom prst="roundRect">
            <a:avLst>
              <a:gd fmla="val 16667" name="adj"/>
            </a:avLst>
          </a:prstGeom>
          <a:solidFill>
            <a:srgbClr val="FF99CC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" name="Google Shape;554;p15"/>
          <p:cNvCxnSpPr/>
          <p:nvPr/>
        </p:nvCxnSpPr>
        <p:spPr>
          <a:xfrm>
            <a:off x="6310313" y="427355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p15"/>
          <p:cNvCxnSpPr/>
          <p:nvPr/>
        </p:nvCxnSpPr>
        <p:spPr>
          <a:xfrm>
            <a:off x="2957513" y="4730750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6" name="Google Shape;556;p15"/>
          <p:cNvCxnSpPr/>
          <p:nvPr/>
        </p:nvCxnSpPr>
        <p:spPr>
          <a:xfrm>
            <a:off x="4786313" y="4730750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7" name="Google Shape;557;p15"/>
          <p:cNvSpPr txBox="1"/>
          <p:nvPr/>
        </p:nvSpPr>
        <p:spPr>
          <a:xfrm>
            <a:off x="3235326" y="4730750"/>
            <a:ext cx="66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5"/>
          <p:cNvSpPr txBox="1"/>
          <p:nvPr/>
        </p:nvSpPr>
        <p:spPr>
          <a:xfrm>
            <a:off x="5062538" y="4730750"/>
            <a:ext cx="66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5"/>
          <p:cNvSpPr txBox="1"/>
          <p:nvPr/>
        </p:nvSpPr>
        <p:spPr>
          <a:xfrm>
            <a:off x="327026" y="3262313"/>
            <a:ext cx="114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1.2.3.4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5"/>
          <p:cNvSpPr txBox="1"/>
          <p:nvPr/>
        </p:nvSpPr>
        <p:spPr>
          <a:xfrm>
            <a:off x="1517651" y="3262313"/>
            <a:ext cx="114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1.2.3.7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5"/>
          <p:cNvSpPr txBox="1"/>
          <p:nvPr/>
        </p:nvSpPr>
        <p:spPr>
          <a:xfrm>
            <a:off x="2659063" y="3262313"/>
            <a:ext cx="1419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1.2.3.156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5"/>
          <p:cNvSpPr txBox="1"/>
          <p:nvPr/>
        </p:nvSpPr>
        <p:spPr>
          <a:xfrm>
            <a:off x="4935538" y="3262313"/>
            <a:ext cx="114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5.6.7.8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5"/>
          <p:cNvSpPr txBox="1"/>
          <p:nvPr/>
        </p:nvSpPr>
        <p:spPr>
          <a:xfrm>
            <a:off x="6086476" y="3262313"/>
            <a:ext cx="114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5.6.7.9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5"/>
          <p:cNvSpPr txBox="1"/>
          <p:nvPr/>
        </p:nvSpPr>
        <p:spPr>
          <a:xfrm>
            <a:off x="7267576" y="3262313"/>
            <a:ext cx="1419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5.6.7.212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5"/>
          <p:cNvSpPr txBox="1"/>
          <p:nvPr/>
        </p:nvSpPr>
        <p:spPr>
          <a:xfrm>
            <a:off x="3311551" y="5256813"/>
            <a:ext cx="1555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1.2.3.0/24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5"/>
          <p:cNvSpPr txBox="1"/>
          <p:nvPr/>
        </p:nvSpPr>
        <p:spPr>
          <a:xfrm>
            <a:off x="3324251" y="5640988"/>
            <a:ext cx="1555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5.6.7.0/24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5"/>
          <p:cNvSpPr/>
          <p:nvPr/>
        </p:nvSpPr>
        <p:spPr>
          <a:xfrm>
            <a:off x="5030813" y="5663213"/>
            <a:ext cx="728700" cy="230100"/>
          </a:xfrm>
          <a:prstGeom prst="rightArrow">
            <a:avLst>
              <a:gd fmla="val 50000" name="adj1"/>
              <a:gd fmla="val 79138" name="adj2"/>
            </a:avLst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5"/>
          <p:cNvSpPr/>
          <p:nvPr/>
        </p:nvSpPr>
        <p:spPr>
          <a:xfrm flipH="1">
            <a:off x="5029188" y="5317138"/>
            <a:ext cx="728700" cy="230100"/>
          </a:xfrm>
          <a:prstGeom prst="rightArrow">
            <a:avLst>
              <a:gd fmla="val 50000" name="adj1"/>
              <a:gd fmla="val 79138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/>
          <p:nvPr/>
        </p:nvSpPr>
        <p:spPr>
          <a:xfrm>
            <a:off x="3340126" y="5201250"/>
            <a:ext cx="2573400" cy="80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15"/>
          <p:cNvCxnSpPr/>
          <p:nvPr/>
        </p:nvCxnSpPr>
        <p:spPr>
          <a:xfrm>
            <a:off x="4876826" y="5201250"/>
            <a:ext cx="0" cy="8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15"/>
          <p:cNvCxnSpPr/>
          <p:nvPr/>
        </p:nvCxnSpPr>
        <p:spPr>
          <a:xfrm flipH="1" rot="10800000">
            <a:off x="3340126" y="5623613"/>
            <a:ext cx="25734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2" name="Google Shape;572;p15"/>
          <p:cNvSpPr txBox="1"/>
          <p:nvPr/>
        </p:nvSpPr>
        <p:spPr>
          <a:xfrm>
            <a:off x="3492526" y="6083900"/>
            <a:ext cx="2160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forwarding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3" name="Google Shape;573;p15"/>
          <p:cNvCxnSpPr/>
          <p:nvPr/>
        </p:nvCxnSpPr>
        <p:spPr>
          <a:xfrm>
            <a:off x="7970838" y="4300538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4" name="Google Shape;574;p15"/>
          <p:cNvSpPr/>
          <p:nvPr/>
        </p:nvSpPr>
        <p:spPr>
          <a:xfrm>
            <a:off x="7624763" y="4606925"/>
            <a:ext cx="625500" cy="349200"/>
          </a:xfrm>
          <a:prstGeom prst="rect">
            <a:avLst/>
          </a:prstGeom>
          <a:solidFill>
            <a:srgbClr val="CC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5"/>
          <p:cNvSpPr txBox="1"/>
          <p:nvPr/>
        </p:nvSpPr>
        <p:spPr>
          <a:xfrm>
            <a:off x="7161213" y="5008563"/>
            <a:ext cx="1419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5.6.7.213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5"/>
          <p:cNvSpPr/>
          <p:nvPr/>
        </p:nvSpPr>
        <p:spPr>
          <a:xfrm>
            <a:off x="7048501" y="4492625"/>
            <a:ext cx="1612800" cy="1036500"/>
          </a:xfrm>
          <a:prstGeom prst="ellipse">
            <a:avLst/>
          </a:prstGeom>
          <a:noFill/>
          <a:ln cap="flat" cmpd="sng" w="25400">
            <a:solidFill>
              <a:srgbClr val="FF3300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5"/>
          <p:cNvSpPr txBox="1"/>
          <p:nvPr>
            <p:ph idx="1" type="body"/>
          </p:nvPr>
        </p:nvSpPr>
        <p:spPr>
          <a:xfrm>
            <a:off x="2341588" y="1417640"/>
            <a:ext cx="8229600" cy="4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Easy to Add New Hosts</a:t>
            </a:r>
            <a:endParaRPr>
              <a:solidFill>
                <a:schemeClr val="lt1"/>
              </a:solidFill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</a:pPr>
            <a:r>
              <a:rPr b="0" i="0" lang="e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 host (5.6.7.213)</a:t>
            </a:r>
            <a:endParaRPr>
              <a:solidFill>
                <a:schemeClr val="lt1"/>
              </a:solidFill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</a:pPr>
            <a:r>
              <a:rPr b="0" i="0" lang="e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Forwarding table doesn’t need to be updated!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5"/>
          <p:cNvSpPr txBox="1"/>
          <p:nvPr/>
        </p:nvSpPr>
        <p:spPr>
          <a:xfrm>
            <a:off x="571500" y="1260225"/>
            <a:ext cx="49005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Easy to Add New Hosts</a:t>
            </a:r>
            <a:endParaRPr b="0" i="0" sz="2400" u="none" cap="none" strike="noStrike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–"/>
            </a:pPr>
            <a:r>
              <a:rPr b="0" i="0" lang="en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New host (5.6.7.213)</a:t>
            </a:r>
            <a:endParaRPr b="0" i="0" sz="2000" u="none" cap="none" strike="noStrike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–"/>
            </a:pPr>
            <a:r>
              <a:rPr b="0" i="0" lang="en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Forwarding table doesn’t need to be updated!</a:t>
            </a:r>
            <a:endParaRPr b="0" i="0" sz="24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28f25040a0_0_0"/>
          <p:cNvSpPr txBox="1"/>
          <p:nvPr>
            <p:ph type="title"/>
          </p:nvPr>
        </p:nvSpPr>
        <p:spPr>
          <a:xfrm>
            <a:off x="645900" y="206900"/>
            <a:ext cx="78522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584" name="Google Shape;584;g328f25040a0_0_0"/>
          <p:cNvSpPr txBox="1"/>
          <p:nvPr/>
        </p:nvSpPr>
        <p:spPr>
          <a:xfrm>
            <a:off x="2616375" y="1512533"/>
            <a:ext cx="398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Francois One"/>
                <a:ea typeface="Francois One"/>
                <a:cs typeface="Francois One"/>
                <a:sym typeface="Francois One"/>
              </a:rPr>
              <a:t>Feedback Form:</a:t>
            </a:r>
            <a:r>
              <a:rPr lang="en">
                <a:latin typeface="Francois One"/>
                <a:ea typeface="Francois One"/>
                <a:cs typeface="Francois One"/>
                <a:sym typeface="Francois One"/>
              </a:rPr>
              <a:t> https://tinyurl.com/cs168-sp25-dis</a:t>
            </a:r>
            <a:endParaRPr b="0" i="0" sz="1400" u="none" cap="none" strike="noStrike">
              <a:solidFill>
                <a:srgbClr val="000000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pic>
        <p:nvPicPr>
          <p:cNvPr id="585" name="Google Shape;585;g328f25040a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8875" y="2203767"/>
            <a:ext cx="3304100" cy="33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Tropic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EF6C00"/>
      </a:accent1>
      <a:accent2>
        <a:srgbClr val="4DB6AC"/>
      </a:accent2>
      <a:accent3>
        <a:srgbClr val="B3A77D"/>
      </a:accent3>
      <a:accent4>
        <a:srgbClr val="A1E8D9"/>
      </a:accent4>
      <a:accent5>
        <a:srgbClr val="695D46"/>
      </a:accent5>
      <a:accent6>
        <a:srgbClr val="009668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