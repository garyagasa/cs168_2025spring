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Average"/>
      <p:regular r:id="rId36"/>
    </p:embeddedFont>
    <p:embeddedFont>
      <p:font typeface="Francois One"/>
      <p:regular r:id="rId37"/>
    </p:embeddedFont>
    <p:embeddedFont>
      <p:font typeface="Oswal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Q6Z6zc2qvK9yf1LJA30U4PpIMs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aewon Le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FrancoisOne-regular.fntdata"/><Relationship Id="rId14" Type="http://schemas.openxmlformats.org/officeDocument/2006/relationships/slide" Target="slides/slide9.xml"/><Relationship Id="rId36" Type="http://schemas.openxmlformats.org/officeDocument/2006/relationships/font" Target="fonts/Average-regular.fntdata"/><Relationship Id="rId17" Type="http://schemas.openxmlformats.org/officeDocument/2006/relationships/slide" Target="slides/slide12.xml"/><Relationship Id="rId39" Type="http://schemas.openxmlformats.org/officeDocument/2006/relationships/font" Target="fonts/Oswald-bold.fntdata"/><Relationship Id="rId16" Type="http://schemas.openxmlformats.org/officeDocument/2006/relationships/slide" Target="slides/slide11.xml"/><Relationship Id="rId38" Type="http://schemas.openxmlformats.org/officeDocument/2006/relationships/font" Target="fonts/Oswald-regular.fntdata"/><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1-27T00:36:53.654">
    <p:pos x="6000" y="0"/>
    <p:text>keep hidden/make a copy of this slide for your own</p:text>
    <p:extLst>
      <p:ext uri="{C676402C-5697-4E1C-873F-D02D1690AC5C}">
        <p15:threadingInfo timeZoneBias="0"/>
      </p:ext>
      <p:ext uri="http://customooxmlschemas.google.com/">
        <go:slidesCustomData xmlns:go="http://customooxmlschemas.google.com/" commentPostId="AAABcv_rT9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8599867c1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28599867c1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8599867c14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28599867c14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28f0a7e35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g328f0a7e353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suggest surveying the class - ask how many are EECS/CS majors, how many are something else. How many first, second, third, fourth years, or grad students. How many from California, how many from somewhere else. Also ask why they’re taking the class / what they want to learn. Great way to get to know them and break the ice.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983883f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2983883f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suggest surveying the class - ask how many are EECS/CS majors, how many are something else. How many first, second, third, fourth years, or grad students. How many from California, how many from somewhere else. Also ask why they’re taking the class / what they want to learn. Great way to get to know them and break the ice.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2983883f5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2983883f5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suggest surveying the class - ask how many are EECS/CS majors, how many are something else. How many first, second, third, fourth years, or grad students. How many from California, how many from somewhere else. Also ask why they’re taking the class / what they want to learn. Great way to get to know them and break the ice.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98ca4f4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298ca4f4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suggest surveying the class - ask how many are EECS/CS majors, how many are something else. How many first, second, third, fourth years, or grad students. How many from California, how many from somewhere else. Also ask why they’re taking the class / what they want to learn. Great way to get to know them and break the ice.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ef51038f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2ef51038f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8599867c1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28599867c1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8599867c1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8599867c1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599867c14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8599867c1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600"/>
              </a:spcBef>
              <a:spcAft>
                <a:spcPts val="0"/>
              </a:spcAft>
              <a:buClr>
                <a:srgbClr val="000000"/>
              </a:buClr>
              <a:buSzPts val="1100"/>
              <a:buFont typeface="Arial"/>
              <a:buNone/>
            </a:pPr>
            <a:r>
              <a:rPr lang="en">
                <a:solidFill>
                  <a:srgbClr val="222222"/>
                </a:solidFill>
              </a:rPr>
              <a:t>FEEL FREE TO CUSTOMIZE THESE TWO SLIDES IN YOUR OWN VERSION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Routers/Switches and 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 Stack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Networking SW on host. It replicates some routers/switch functionality then adds some additional network functionality before giving packet to 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bags of bits. Consists of:</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Header w/meaningful info for network and network stack to make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Body containing a payload. Ex. A file, imagine, an application header, etc.</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devices that take a packet arriving on one of its incoming communication links and forwards said packet on one of its outgoing links. We make no distinction between routers/switches at this point because the difference is subtle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Most high level part of network connection, responsible for sending and receiving data as well as understanding the content of the data</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Port: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routing context in the network, this refers to a physical port, which is responsible for providing a connection between 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network stack and application context, this could be a logical port which is a means of which an application can connect to the network stack. (More on ports later in the semester)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Socket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OS mechanism that connects processes to network stack via (logical) ports. More on this later..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Naming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address: where host is located</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name: which host it is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When you move a server to a new building, it’s name does not change but it’s address does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Internet Service Provider (ISP)</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Essentially an ISP is in itself a network of packet switches and communication links providing network access to end systems/links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Autonomous Systems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A group of routers that are under the same administrative control.</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Often routers in an ISP and the links that interconnect them constitute a single AS; however, some ISPs partition their network into multiple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 within the same AS will run the same routing algorithm and have information about each other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Routing table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Table used by routers/switches to determine which outgoing link (port) to send a packet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Control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mechanisms used to computer touting tables. i.e. concerned with determining/creating routing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Data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Using said tables to actually forward packets. i.e. concerned with the actual semantics/performance of forwarding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Circuit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an end system reserves BW along a path - sets up a circuit - for communication. No need for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routers/switches service each packet they receive independently by inspecting its header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8599867c14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28599867c14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600"/>
              </a:spcBef>
              <a:spcAft>
                <a:spcPts val="0"/>
              </a:spcAft>
              <a:buClr>
                <a:srgbClr val="000000"/>
              </a:buClr>
              <a:buSzPts val="1100"/>
              <a:buFont typeface="Arial"/>
              <a:buNone/>
            </a:pPr>
            <a:r>
              <a:rPr lang="en">
                <a:solidFill>
                  <a:srgbClr val="222222"/>
                </a:solidFill>
              </a:rPr>
              <a:t>FEEL FREE TO CUSTOMIZE THESE TWO SLIDES IN YOUR OWN VERSION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Routers/Switches and 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 Stack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Networking SW on host. It replicates some routers/switch functionality then adds some additional network functionality before giving packet to 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bags of bits. Consists of:</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Header w/meaningful info for network and network stack to make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Body containing a payload. Ex. A file, imagine, an application header, etc.</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devices that take a packet arriving on one of its incoming communication links and forwards said packet on one of its outgoing links. We make no distinction between routers/switches at this point because the difference is subtle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Most high level part of network connection, responsible for sending and receiving data as well as understanding the content of the data</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Port: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routing context in the network, this refers to a physical port, which is responsible for providing a connection between 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network stack and application context, this could be a logical port which is a means of which an application can connect to the network stack. (More on ports later in the semester)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Socket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OS mechanism that connects processes to network stack via (logical) ports. More on this later..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Naming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address: where host is located</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name: which host it is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When you move a server to a new building, it’s name does not change but it’s address does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Internet Service Provider (ISP)</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Essentially an ISP is in itself a network of packet switches and communication links providing network access to end systems/links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Autonomous Systems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A group of routers that are under the same administrative control.</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Often routers in an ISP and the links that interconnect them constitute a single AS; however, some ISPs partition their network into multiple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 within the same AS will run the same routing algorithm and have information about each other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Routing table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Table used by routers/switches to determine which outgoing link (port) to send a packet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Control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mechanisms used to computer touting tables. i.e. concerned with determining/creating routing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Data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Using said tables to actually forward packets. i.e. concerned with the actual semantics/performance of forwarding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Circuit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an end system reserves BW along a path - sets up a circuit - for communication. No need for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routers/switches service each packet they receive independently by inspecting its header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t/>
            </a:r>
            <a:endParaRPr>
              <a:solidFill>
                <a:srgbClr val="222222"/>
              </a:solidFill>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599867c14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8599867c14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600"/>
              </a:spcBef>
              <a:spcAft>
                <a:spcPts val="0"/>
              </a:spcAft>
              <a:buClr>
                <a:srgbClr val="000000"/>
              </a:buClr>
              <a:buSzPts val="1100"/>
              <a:buFont typeface="Arial"/>
              <a:buNone/>
            </a:pPr>
            <a:r>
              <a:rPr lang="en">
                <a:solidFill>
                  <a:srgbClr val="222222"/>
                </a:solidFill>
              </a:rPr>
              <a:t>FEEL FREE TO CUSTOMIZE THESE TWO SLIDES IN YOUR OWN VERSION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Routers/Switches and 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 Stack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Networking SW on host. It replicates some routers/switch functionality then adds some additional network functionality before giving packet to 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bags of bits. Consists of:</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Header w/meaningful info for network and network stack to make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Body containing a payload. Ex. A file, imagine, an application header, etc.</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devices that take a packet arriving on one of its incoming communication links and forwards said packet on one of its outgoing links. We make no distinction between routers/switches at this point because the difference is subtle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Most high level part of network connection, responsible for sending and receiving data as well as understanding the content of the data</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Port: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routing context in the network, this refers to a physical port, which is responsible for providing a connection between 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network stack and application context, this could be a logical port which is a means of which an application can connect to the network stack. (More on ports later in the semester)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Socket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OS mechanism that connects processes to network stack via (logical) ports. More on this later..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Naming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address: where host is located</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name: which host it is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When you move a server to a new building, it’s name does not change but it’s address does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Internet Service Provider (ISP)</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Essentially an ISP is in itself a network of packet switches and communication links providing network access to end systems/links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Autonomous Systems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A group of routers that are under the same administrative control.</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Often routers in an ISP and the links that interconnect them constitute a single AS; however, some ISPs partition their network into multiple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 within the same AS will run the same routing algorithm and have information about each other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Routing table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Table used by routers/switches to determine which outgoing link (port) to send a packet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Control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mechanisms used to computer touting tables. i.e. concerned with determining/creating routing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Data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Using said tables to actually forward packets. i.e. concerned with the actual semantics/performance of forwarding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Circuit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an end system reserves BW along a path - sets up a circuit - for communication. No need for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routers/switches service each packet they receive independently by inspecting its header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t/>
            </a:r>
            <a:endParaRPr>
              <a:solidFill>
                <a:srgbClr val="222222"/>
              </a:solidFill>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599867c14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28599867c14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600"/>
              </a:spcBef>
              <a:spcAft>
                <a:spcPts val="0"/>
              </a:spcAft>
              <a:buClr>
                <a:srgbClr val="000000"/>
              </a:buClr>
              <a:buSzPts val="1100"/>
              <a:buFont typeface="Arial"/>
              <a:buNone/>
            </a:pPr>
            <a:r>
              <a:rPr lang="en">
                <a:solidFill>
                  <a:srgbClr val="222222"/>
                </a:solidFill>
              </a:rPr>
              <a:t>FEEL FREE TO CUSTOMIZE THESE TWO SLIDES IN YOUR OWN VERSION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Routers/Switches and 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 Stack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Networking SW on host. It replicates some routers/switch functionality then adds some additional network functionality before giving packet to 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bags of bits. Consists of:</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Header w/meaningful info for network and network stack to make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Body containing a payload. Ex. A file, imagine, an application header, etc.</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devices that take a packet arriving on one of its incoming communication links and forwards said packet on one of its outgoing links. We make no distinction between routers/switches at this point because the difference is subtle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Most high level part of network connection, responsible for sending and receiving data as well as understanding the content of the data</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Port: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routing context in the network, this refers to a physical port, which is responsible for providing a connection between 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network stack and application context, this could be a logical port which is a means of which an application can connect to the network stack. (More on ports later in the semester)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Socket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OS mechanism that connects processes to network stack via (logical) ports. More on this later..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Naming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address: where host is located</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name: which host it is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When you move a server to a new building, it’s name does not change but it’s address does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Internet Service Provider (ISP)</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Essentially an ISP is in itself a network of packet switches and communication links providing network access to end systems/links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Autonomous Systems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A group of routers that are under the same administrative control.</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Often routers in an ISP and the links that interconnect them constitute a single AS; however, some ISPs partition their network into multiple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 within the same AS will run the same routing algorithm and have information about each other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Routing table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Table used by routers/switches to determine which outgoing link (port) to send a packet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Control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mechanisms used to computer touting tables. i.e. concerned with determining/creating routing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Data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Using said tables to actually forward packets. i.e. concerned with the actual semantics/performance of forwarding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Circuit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an end system reserves BW along a path - sets up a circuit - for communication. No need for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routers/switches service each packet they receive independently by inspecting its header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t/>
            </a:r>
            <a:endParaRPr>
              <a:solidFill>
                <a:srgbClr val="222222"/>
              </a:solidFill>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8599867c14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28599867c14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Routers/Switches and 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Network Stack</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Networking SW on host. It replicates some routers/switch functionality then adds some additional network functionality before giving packet to 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bags of bits. Consists of:</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Header w/meaningful info for network and network stack to make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Body containing a payload. Ex. A file, imagine, an application header, etc.</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devices that take a packet arriving on one of its incoming communication links and forwards said packet on one of its outgoing links. We make no distinction between routers/switches at this point because the difference is subtle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Application</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Most high level part of network connection, responsible for sending and receiving data as well as understanding the content of the data</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Port: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routing context in the network, this refers to a physical port, which is responsible for providing a connection between routers/switches.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In network stack and application context, this could be a logical port which is a means of which an application can connect to the network stack. (More on ports later in the semester)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Socket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OS mechanism that connects processes to network stack via (logical) ports. More on this later..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Naming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address: where host is located</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Network name: which host it is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When you move a server to a new building, it’s name does not change but it’s address does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Internet Service Provider (ISP)</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Essentially an ISP is in itself a network of packet switches and communication links providing network access to end systems/links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Autonomous Systems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A group of routers that are under the same administrative control.</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Often routers in an ISP and the links that interconnect them constitute a single AS; however, some ISPs partition their network into multiple ASes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Routers within the same AS will run the same routing algorithm and have information about each other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Routing table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Table used by routers/switches to determine which outgoing link (port) to send a packet</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Control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mechanisms used to computer touting tables. i.e. concerned with determining/creating routing decisions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Data plane</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Using said tables to actually forward packets. i.e. concerned with the actual semantics/performance of forwarding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Circuit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an end system reserves BW along a path - sets up a circuit - for communication. No need for packets.</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Packet Switching</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rPr lang="en">
                <a:solidFill>
                  <a:srgbClr val="222222"/>
                </a:solidFill>
              </a:rPr>
              <a:t>- method of data transfer in which routers/switches service each packet they receive independently by inspecting its header</a:t>
            </a:r>
            <a:endParaRPr>
              <a:solidFill>
                <a:srgbClr val="222222"/>
              </a:solidFill>
            </a:endParaRPr>
          </a:p>
          <a:p>
            <a:pPr indent="0" lvl="0" marL="0" rtl="0" algn="l">
              <a:lnSpc>
                <a:spcPct val="150000"/>
              </a:lnSpc>
              <a:spcBef>
                <a:spcPts val="600"/>
              </a:spcBef>
              <a:spcAft>
                <a:spcPts val="0"/>
              </a:spcAft>
              <a:buClr>
                <a:srgbClr val="000000"/>
              </a:buClr>
              <a:buSzPts val="1100"/>
              <a:buFont typeface="Arial"/>
              <a:buNone/>
            </a:pPr>
            <a:r>
              <a:t/>
            </a:r>
            <a:endParaRPr>
              <a:solidFill>
                <a:srgbClr val="222222"/>
              </a:solidFill>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8599867c14_0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8599867c14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8f0a7e353_1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28f0a7e353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8f0a7e353_1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28f0a7e353_1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Instructions on Next slide!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Command: ping &lt;website&gt;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	If you add  “-4” in windows, it will force IPv4</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Websites: Berkeley (berkeley.edu), Google, Github, Microsoft (no response), zu.ac.tz (Zanzibar University Login), </a:t>
            </a:r>
            <a:r>
              <a:rPr lang="en" sz="1200">
                <a:solidFill>
                  <a:srgbClr val="24292E"/>
                </a:solidFill>
                <a:highlight>
                  <a:schemeClr val="lt1"/>
                </a:highlight>
              </a:rPr>
              <a:t>allspice.lcs.mit.edu, www.vutbr.cz (Brno University, Czech Republic)</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rgbClr val="24292E"/>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n" sz="1200">
                <a:solidFill>
                  <a:srgbClr val="24292E"/>
                </a:solidFill>
                <a:highlight>
                  <a:schemeClr val="lt1"/>
                </a:highlight>
              </a:rPr>
              <a:t>Ping google.co.uk at the end</a:t>
            </a:r>
            <a:endParaRPr sz="1200">
              <a:solidFill>
                <a:srgbClr val="24292E"/>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t/>
            </a:r>
            <a:endParaRPr sz="1200">
              <a:solidFill>
                <a:srgbClr val="24292E"/>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It should take about the same time to ping google.co.uk as google.com =&gt; google is smart enough to configure their DNS entries to allow anycast to work well across TLDs</a:t>
            </a:r>
            <a:endParaRPr>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8f0a7e353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28f0a7e353_1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Try these one by one. Have students guess before you run ping. Project your screen as your run ping in terminal.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8f0a7e353_1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28f0a7e353_1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rgbClr val="24292E"/>
                </a:solidFill>
                <a:highlight>
                  <a:srgbClr val="FFFFFF"/>
                </a:highlight>
                <a:latin typeface="Arial"/>
                <a:ea typeface="Arial"/>
                <a:cs typeface="Arial"/>
                <a:sym typeface="Arial"/>
              </a:rPr>
              <a:t>Ping google.co.uk</a:t>
            </a:r>
            <a:endParaRPr b="0" i="0" sz="1200" u="none" cap="none" strike="noStrike">
              <a:solidFill>
                <a:srgbClr val="24292E"/>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a:p>
            <a:pPr indent="0" lvl="0" marL="0" rtl="0" algn="l">
              <a:lnSpc>
                <a:spcPct val="100000"/>
              </a:lnSpc>
              <a:spcBef>
                <a:spcPts val="0"/>
              </a:spcBef>
              <a:spcAft>
                <a:spcPts val="0"/>
              </a:spcAft>
              <a:buClr>
                <a:srgbClr val="000000"/>
              </a:buClr>
              <a:buSzPts val="1100"/>
              <a:buFont typeface="Arial"/>
              <a:buNone/>
            </a:pPr>
            <a:r>
              <a:rPr lang="en"/>
              <a:t>It should take about the same time to ping google.co.uk as google.com =&gt; google is smart enough to configure their DNS entries to allow anycast to work well across TLDs</a:t>
            </a:r>
            <a:endParaRPr/>
          </a:p>
          <a:p>
            <a:pPr indent="0" lvl="0" marL="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8f0a7e353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28f0a7e353_1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Try these one by one. Have students guess before you run ping. Project your screen as your run ping in terminal.</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8f0a7e353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28f0a7e353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“How?” section moved to bonus slides, can discuss at end of section if students are curious.</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Command(linux, macOS): traceroute &lt;website&gt;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Command(Windows) tracert &lt;website&gt;</a:t>
            </a:r>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a:p>
            <a:pPr indent="0" lvl="0" marL="0" marR="0" rtl="0" algn="l">
              <a:lnSpc>
                <a:spcPct val="100000"/>
              </a:lnSpc>
              <a:spcBef>
                <a:spcPts val="0"/>
              </a:spcBef>
              <a:spcAft>
                <a:spcPts val="0"/>
              </a:spcAft>
              <a:buClr>
                <a:srgbClr val="000000"/>
              </a:buClr>
              <a:buSzPts val="1100"/>
              <a:buFont typeface="Arial"/>
              <a:buNone/>
            </a:pPr>
            <a:r>
              <a:rPr lang="en" sz="1200">
                <a:solidFill>
                  <a:srgbClr val="24292E"/>
                </a:solidFill>
                <a:highlight>
                  <a:srgbClr val="FFFFFF"/>
                </a:highlight>
              </a:rPr>
              <a:t>NOTE: CENIC = Corporation for Education Network Initiatives in California (Powerful networks for CA Univerisites)</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8f0a7e353_1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28f0a7e353_1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8f0a7e353_1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28f0a7e353_1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“How?” section moved to bonus slides, can discuss at end of section if students are curious.</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Command(linux, macOS): traceroute &lt;website&gt;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Command(Windows) tracert &lt;website&gt;</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a:p>
            <a:pPr indent="0" lvl="0" marL="0" marR="0" rtl="0" algn="l">
              <a:lnSpc>
                <a:spcPct val="100000"/>
              </a:lnSpc>
              <a:spcBef>
                <a:spcPts val="0"/>
              </a:spcBef>
              <a:spcAft>
                <a:spcPts val="0"/>
              </a:spcAft>
              <a:buClr>
                <a:srgbClr val="000000"/>
              </a:buClr>
              <a:buSzPts val="1100"/>
              <a:buFont typeface="Arial"/>
              <a:buNone/>
            </a:pPr>
            <a:r>
              <a:t/>
            </a:r>
            <a:endParaRPr sz="1200">
              <a:solidFill>
                <a:srgbClr val="24292E"/>
              </a:solidFill>
              <a:highlight>
                <a:srgbClr val="FFFFFF"/>
              </a:highlight>
            </a:endParaRPr>
          </a:p>
          <a:p>
            <a:pPr indent="0" lvl="0" marL="0" marR="0" rtl="0" algn="l">
              <a:lnSpc>
                <a:spcPct val="100000"/>
              </a:lnSpc>
              <a:spcBef>
                <a:spcPts val="0"/>
              </a:spcBef>
              <a:spcAft>
                <a:spcPts val="0"/>
              </a:spcAft>
              <a:buClr>
                <a:srgbClr val="000000"/>
              </a:buClr>
              <a:buSzPts val="1100"/>
              <a:buFont typeface="Arial"/>
              <a:buNone/>
            </a:pPr>
            <a:r>
              <a:rPr lang="en" sz="1200">
                <a:solidFill>
                  <a:srgbClr val="24292E"/>
                </a:solidFill>
                <a:highlight>
                  <a:srgbClr val="FFFFFF"/>
                </a:highlight>
              </a:rPr>
              <a:t>NOTE: CENIC = Corporation for Education Network Initiatives in California (Powerful networks for CA Univerisites)</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28f0a7e353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28f0a7e353_1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Try these one by one. Have students guess before you run ping. Project your screen as your run ping in terminal.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8f0a7e353_1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28f0a7e353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Stars may also mean that it timed out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28f0a7e353_1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328f0a7e353_1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Make sure to try with the +trace option.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-Explanation in Old slides at the bottom</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a:p>
          <a:p>
            <a:pPr indent="0" lvl="1" marL="4572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Websites: </a:t>
            </a:r>
            <a:r>
              <a:rPr lang="en"/>
              <a:t>berkeley.edu</a:t>
            </a:r>
            <a:endParaRPr/>
          </a:p>
          <a:p>
            <a:pPr indent="0" lvl="0" marL="457200" marR="0" rtl="0" algn="l">
              <a:lnSpc>
                <a:spcPct val="100000"/>
              </a:lnSpc>
              <a:spcBef>
                <a:spcPts val="0"/>
              </a:spcBef>
              <a:spcAft>
                <a:spcPts val="0"/>
              </a:spcAft>
              <a:buClr>
                <a:schemeClr val="dk1"/>
              </a:buClr>
              <a:buSzPts val="1100"/>
              <a:buFont typeface="Arial"/>
              <a:buNone/>
            </a:pPr>
            <a:r>
              <a:rPr lang="en"/>
              <a:t>google.com</a:t>
            </a:r>
            <a:endParaRPr/>
          </a:p>
          <a:p>
            <a:pPr indent="0" lvl="0" marL="457200" marR="0" rtl="0" algn="l">
              <a:lnSpc>
                <a:spcPct val="100000"/>
              </a:lnSpc>
              <a:spcBef>
                <a:spcPts val="0"/>
              </a:spcBef>
              <a:spcAft>
                <a:spcPts val="0"/>
              </a:spcAft>
              <a:buClr>
                <a:schemeClr val="dk1"/>
              </a:buClr>
              <a:buSzPts val="1100"/>
              <a:buFont typeface="Arial"/>
              <a:buNone/>
            </a:pPr>
            <a:r>
              <a:rPr lang="en"/>
              <a:t>csail.mit.edu (MIT’s CS department)</a:t>
            </a:r>
            <a:endParaRPr/>
          </a:p>
          <a:p>
            <a:pPr indent="0" lvl="0" marL="457200" marR="0" rtl="0" algn="l">
              <a:lnSpc>
                <a:spcPct val="100000"/>
              </a:lnSpc>
              <a:spcBef>
                <a:spcPts val="0"/>
              </a:spcBef>
              <a:spcAft>
                <a:spcPts val="0"/>
              </a:spcAft>
              <a:buClr>
                <a:schemeClr val="dk1"/>
              </a:buClr>
              <a:buSzPts val="1100"/>
              <a:buFont typeface="Arial"/>
              <a:buNone/>
            </a:pPr>
            <a:r>
              <a:rPr lang="en"/>
              <a:t>ford.com (Ford, a car company headquartered in Michigan)</a:t>
            </a:r>
            <a:endParaRPr/>
          </a:p>
          <a:p>
            <a:pPr indent="0" lvl="0" marL="457200" marR="0" rtl="0" algn="l">
              <a:lnSpc>
                <a:spcPct val="100000"/>
              </a:lnSpc>
              <a:spcBef>
                <a:spcPts val="0"/>
              </a:spcBef>
              <a:spcAft>
                <a:spcPts val="0"/>
              </a:spcAft>
              <a:buClr>
                <a:schemeClr val="dk1"/>
              </a:buClr>
              <a:buSzPts val="1100"/>
              <a:buFont typeface="Arial"/>
              <a:buNone/>
            </a:pPr>
            <a:r>
              <a:rPr lang="en"/>
              <a:t>rural.pa.gov (Rural Pennsylvania)</a:t>
            </a:r>
            <a:endParaRPr/>
          </a:p>
          <a:p>
            <a:pPr indent="0" lvl="0" marL="457200" marR="0" rtl="0" algn="l">
              <a:lnSpc>
                <a:spcPct val="100000"/>
              </a:lnSpc>
              <a:spcBef>
                <a:spcPts val="0"/>
              </a:spcBef>
              <a:spcAft>
                <a:spcPts val="0"/>
              </a:spcAft>
              <a:buClr>
                <a:schemeClr val="dk1"/>
              </a:buClr>
              <a:buSzPts val="1100"/>
              <a:buFont typeface="Arial"/>
              <a:buNone/>
            </a:pPr>
            <a:r>
              <a:rPr lang="en"/>
              <a:t>unam.edu.na (University of Namibia)</a:t>
            </a:r>
            <a:endParaRPr/>
          </a:p>
          <a:p>
            <a:pPr indent="0" lvl="0" marL="457200" marR="0" rtl="0" algn="l">
              <a:lnSpc>
                <a:spcPct val="100000"/>
              </a:lnSpc>
              <a:spcBef>
                <a:spcPts val="0"/>
              </a:spcBef>
              <a:spcAft>
                <a:spcPts val="0"/>
              </a:spcAft>
              <a:buClr>
                <a:schemeClr val="dk1"/>
              </a:buClr>
              <a:buSzPts val="1100"/>
              <a:buFont typeface="Arial"/>
              <a:buNone/>
            </a:pPr>
            <a:r>
              <a:t/>
            </a:r>
            <a:endParaRPr/>
          </a:p>
          <a:p>
            <a:pPr indent="0" lvl="1" marL="457200" marR="0" rtl="0" algn="l">
              <a:lnSpc>
                <a:spcPct val="100000"/>
              </a:lnSpc>
              <a:spcBef>
                <a:spcPts val="0"/>
              </a:spcBef>
              <a:spcAft>
                <a:spcPts val="0"/>
              </a:spcAft>
              <a:buClr>
                <a:srgbClr val="000000"/>
              </a:buClr>
              <a:buSzPts val="1100"/>
              <a:buFont typeface="Arial"/>
              <a:buNone/>
            </a:pPr>
            <a:r>
              <a:t/>
            </a:r>
            <a:endParaRPr/>
          </a:p>
          <a:p>
            <a:pPr indent="0" lvl="1"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28f0a7e353_1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28f0a7e353_1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28f0a7e353_1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28f0a7e353_1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Make sure to try with the +trace option.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-Explanation in Old slides at the bottom</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a:p>
          <a:p>
            <a:pPr indent="0" lvl="1" marL="4572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Websites: </a:t>
            </a:r>
            <a:r>
              <a:rPr lang="en"/>
              <a:t>berkeley.edu</a:t>
            </a:r>
            <a:endParaRPr/>
          </a:p>
          <a:p>
            <a:pPr indent="0" lvl="0" marL="457200" marR="0" rtl="0" algn="l">
              <a:lnSpc>
                <a:spcPct val="100000"/>
              </a:lnSpc>
              <a:spcBef>
                <a:spcPts val="0"/>
              </a:spcBef>
              <a:spcAft>
                <a:spcPts val="0"/>
              </a:spcAft>
              <a:buClr>
                <a:schemeClr val="dk1"/>
              </a:buClr>
              <a:buSzPts val="1100"/>
              <a:buFont typeface="Arial"/>
              <a:buNone/>
            </a:pPr>
            <a:r>
              <a:rPr lang="en"/>
              <a:t>google.com</a:t>
            </a:r>
            <a:endParaRPr/>
          </a:p>
          <a:p>
            <a:pPr indent="0" lvl="0" marL="457200" marR="0" rtl="0" algn="l">
              <a:lnSpc>
                <a:spcPct val="100000"/>
              </a:lnSpc>
              <a:spcBef>
                <a:spcPts val="0"/>
              </a:spcBef>
              <a:spcAft>
                <a:spcPts val="0"/>
              </a:spcAft>
              <a:buClr>
                <a:schemeClr val="dk1"/>
              </a:buClr>
              <a:buSzPts val="1100"/>
              <a:buFont typeface="Arial"/>
              <a:buNone/>
            </a:pPr>
            <a:r>
              <a:rPr lang="en"/>
              <a:t>csail.mit.edu (MIT’s CS department)</a:t>
            </a:r>
            <a:endParaRPr/>
          </a:p>
          <a:p>
            <a:pPr indent="0" lvl="0" marL="457200" marR="0" rtl="0" algn="l">
              <a:lnSpc>
                <a:spcPct val="100000"/>
              </a:lnSpc>
              <a:spcBef>
                <a:spcPts val="0"/>
              </a:spcBef>
              <a:spcAft>
                <a:spcPts val="0"/>
              </a:spcAft>
              <a:buClr>
                <a:schemeClr val="dk1"/>
              </a:buClr>
              <a:buSzPts val="1100"/>
              <a:buFont typeface="Arial"/>
              <a:buNone/>
            </a:pPr>
            <a:r>
              <a:rPr lang="en"/>
              <a:t>ford.com (Ford, a car company headquartered in Michigan)</a:t>
            </a:r>
            <a:endParaRPr/>
          </a:p>
          <a:p>
            <a:pPr indent="0" lvl="0" marL="457200" marR="0" rtl="0" algn="l">
              <a:lnSpc>
                <a:spcPct val="100000"/>
              </a:lnSpc>
              <a:spcBef>
                <a:spcPts val="0"/>
              </a:spcBef>
              <a:spcAft>
                <a:spcPts val="0"/>
              </a:spcAft>
              <a:buClr>
                <a:schemeClr val="dk1"/>
              </a:buClr>
              <a:buSzPts val="1100"/>
              <a:buFont typeface="Arial"/>
              <a:buNone/>
            </a:pPr>
            <a:r>
              <a:rPr lang="en"/>
              <a:t>rural.pa.gov (Rural Pennsylvania)</a:t>
            </a:r>
            <a:endParaRPr/>
          </a:p>
          <a:p>
            <a:pPr indent="0" lvl="0" marL="457200" marR="0" rtl="0" algn="l">
              <a:lnSpc>
                <a:spcPct val="100000"/>
              </a:lnSpc>
              <a:spcBef>
                <a:spcPts val="0"/>
              </a:spcBef>
              <a:spcAft>
                <a:spcPts val="0"/>
              </a:spcAft>
              <a:buClr>
                <a:schemeClr val="dk1"/>
              </a:buClr>
              <a:buSzPts val="1100"/>
              <a:buFont typeface="Arial"/>
              <a:buNone/>
            </a:pPr>
            <a:r>
              <a:rPr lang="en"/>
              <a:t>unam.edu.na (University of Namibia)</a:t>
            </a:r>
            <a:endParaRPr/>
          </a:p>
          <a:p>
            <a:pPr indent="0" lvl="0" marL="457200" marR="0" rtl="0" algn="l">
              <a:lnSpc>
                <a:spcPct val="100000"/>
              </a:lnSpc>
              <a:spcBef>
                <a:spcPts val="0"/>
              </a:spcBef>
              <a:spcAft>
                <a:spcPts val="0"/>
              </a:spcAft>
              <a:buClr>
                <a:schemeClr val="dk1"/>
              </a:buClr>
              <a:buSzPts val="1100"/>
              <a:buFont typeface="Arial"/>
              <a:buNone/>
            </a:pPr>
            <a:r>
              <a:t/>
            </a:r>
            <a:endParaRPr/>
          </a:p>
          <a:p>
            <a:pPr indent="0" lvl="1" marL="457200" marR="0" rtl="0" algn="l">
              <a:lnSpc>
                <a:spcPct val="100000"/>
              </a:lnSpc>
              <a:spcBef>
                <a:spcPts val="0"/>
              </a:spcBef>
              <a:spcAft>
                <a:spcPts val="0"/>
              </a:spcAft>
              <a:buClr>
                <a:srgbClr val="000000"/>
              </a:buClr>
              <a:buSzPts val="1100"/>
              <a:buFont typeface="Arial"/>
              <a:buNone/>
            </a:pPr>
            <a:r>
              <a:t/>
            </a:r>
            <a:endParaRPr/>
          </a:p>
          <a:p>
            <a:pPr indent="0" lvl="1"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8f0a7e353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28f0a7e353_1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8599867c1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28599867c14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B6D7A8"/>
        </a:solidFill>
      </p:bgPr>
    </p:bg>
    <p:spTree>
      <p:nvGrpSpPr>
        <p:cNvPr id="9" name="Shape 9"/>
        <p:cNvGrpSpPr/>
        <p:nvPr/>
      </p:nvGrpSpPr>
      <p:grpSpPr>
        <a:xfrm>
          <a:off x="0" y="0"/>
          <a:ext cx="0" cy="0"/>
          <a:chOff x="0" y="0"/>
          <a:chExt cx="0" cy="0"/>
        </a:xfrm>
      </p:grpSpPr>
      <p:grpSp>
        <p:nvGrpSpPr>
          <p:cNvPr id="10" name="Google Shape;10;p39"/>
          <p:cNvGrpSpPr/>
          <p:nvPr/>
        </p:nvGrpSpPr>
        <p:grpSpPr>
          <a:xfrm>
            <a:off x="4350279" y="2855377"/>
            <a:ext cx="443589" cy="105632"/>
            <a:chOff x="4137525" y="2915950"/>
            <a:chExt cx="869100" cy="207000"/>
          </a:xfrm>
        </p:grpSpPr>
        <p:sp>
          <p:nvSpPr>
            <p:cNvPr id="11" name="Google Shape;11;p39"/>
            <p:cNvSpPr/>
            <p:nvPr/>
          </p:nvSpPr>
          <p:spPr>
            <a:xfrm>
              <a:off x="4468575" y="2915950"/>
              <a:ext cx="207000" cy="207000"/>
            </a:xfrm>
            <a:prstGeom prst="ellipse">
              <a:avLst/>
            </a:pr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9"/>
            <p:cNvSpPr/>
            <p:nvPr/>
          </p:nvSpPr>
          <p:spPr>
            <a:xfrm>
              <a:off x="4799625" y="2915950"/>
              <a:ext cx="207000" cy="207000"/>
            </a:xfrm>
            <a:prstGeom prst="ellipse">
              <a:avLst/>
            </a:pr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9"/>
            <p:cNvSpPr/>
            <p:nvPr/>
          </p:nvSpPr>
          <p:spPr>
            <a:xfrm>
              <a:off x="4137525" y="2915950"/>
              <a:ext cx="207000" cy="207000"/>
            </a:xfrm>
            <a:prstGeom prst="ellipse">
              <a:avLst/>
            </a:prstGeom>
            <a:solidFill>
              <a:srgbClr val="0C34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9"/>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9pPr>
          </a:lstStyle>
          <a:p/>
        </p:txBody>
      </p:sp>
      <p:sp>
        <p:nvSpPr>
          <p:cNvPr id="15" name="Google Shape;15;p39"/>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1pPr>
            <a:lvl2pPr lvl="1"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2pPr>
            <a:lvl3pPr lvl="2"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3pPr>
            <a:lvl4pPr lvl="3"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4pPr>
            <a:lvl5pPr lvl="4"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5pPr>
            <a:lvl6pPr lvl="5"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6pPr>
            <a:lvl7pPr lvl="6"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7pPr>
            <a:lvl8pPr lvl="7"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8pPr>
            <a:lvl9pPr lvl="8" marR="0" algn="ctr">
              <a:lnSpc>
                <a:spcPct val="100000"/>
              </a:lnSpc>
              <a:spcBef>
                <a:spcPts val="0"/>
              </a:spcBef>
              <a:spcAft>
                <a:spcPts val="0"/>
              </a:spcAft>
              <a:buClr>
                <a:srgbClr val="FFFFFF"/>
              </a:buClr>
              <a:buSzPts val="2100"/>
              <a:buFont typeface="Arial"/>
              <a:buNone/>
              <a:defRPr b="1" i="0" sz="2100" u="none" cap="none" strike="noStrike">
                <a:solidFill>
                  <a:srgbClr val="FFFFFF"/>
                </a:solidFill>
                <a:latin typeface="Arial"/>
                <a:ea typeface="Arial"/>
                <a:cs typeface="Arial"/>
                <a:sym typeface="Arial"/>
              </a:defRPr>
            </a:lvl9pPr>
          </a:lstStyle>
          <a:p/>
        </p:txBody>
      </p:sp>
      <p:sp>
        <p:nvSpPr>
          <p:cNvPr id="16" name="Google Shape;16;p3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1pPr>
            <a:lvl2pPr lvl="1"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2pPr>
            <a:lvl3pPr lvl="2"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3pPr>
            <a:lvl4pPr lvl="3"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4pPr>
            <a:lvl5pPr lvl="4"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5pPr>
            <a:lvl6pPr lvl="5"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6pPr>
            <a:lvl7pPr lvl="6"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7pPr>
            <a:lvl8pPr lvl="7"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8pPr>
            <a:lvl9pPr lvl="8"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9pPr>
          </a:lstStyle>
          <a:p/>
        </p:txBody>
      </p:sp>
      <p:sp>
        <p:nvSpPr>
          <p:cNvPr id="19" name="Google Shape;19;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55600" lvl="0" marL="457200" marR="0" algn="l">
              <a:lnSpc>
                <a:spcPct val="115000"/>
              </a:lnSpc>
              <a:spcBef>
                <a:spcPts val="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1pPr>
            <a:lvl2pPr indent="-355600" lvl="1" marL="9144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2pPr>
            <a:lvl3pPr indent="-355600" lvl="2" marL="13716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3pPr>
            <a:lvl4pPr indent="-355600" lvl="3" marL="18288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4pPr>
            <a:lvl5pPr indent="-355600" lvl="4" marL="22860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5pPr>
            <a:lvl6pPr indent="-355600" lvl="5" marL="27432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6pPr>
            <a:lvl7pPr indent="-355600" lvl="6" marL="32004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7pPr>
            <a:lvl8pPr indent="-355600" lvl="7" marL="3657600" marR="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8pPr>
            <a:lvl9pPr indent="-355600" lvl="8" marL="4114800" marR="0" algn="l">
              <a:lnSpc>
                <a:spcPct val="115000"/>
              </a:lnSpc>
              <a:spcBef>
                <a:spcPts val="1600"/>
              </a:spcBef>
              <a:spcAft>
                <a:spcPts val="1600"/>
              </a:spcAft>
              <a:buClr>
                <a:srgbClr val="0C343D"/>
              </a:buClr>
              <a:buSzPts val="2000"/>
              <a:buFont typeface="Arial"/>
              <a:buChar char="■"/>
              <a:defRPr b="0" i="0" sz="2000" u="none" cap="none" strike="noStrike">
                <a:solidFill>
                  <a:srgbClr val="0C343D"/>
                </a:solidFill>
                <a:latin typeface="Arial"/>
                <a:ea typeface="Arial"/>
                <a:cs typeface="Arial"/>
                <a:sym typeface="Arial"/>
              </a:defRPr>
            </a:lvl9pPr>
          </a:lstStyle>
          <a:p/>
        </p:txBody>
      </p:sp>
      <p:sp>
        <p:nvSpPr>
          <p:cNvPr id="20" name="Google Shape;20;p4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1"/>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3600"/>
              <a:buFont typeface="Francois One"/>
              <a:buNone/>
              <a:defRPr b="0" i="0" sz="3600" u="none" cap="none" strike="noStrike">
                <a:solidFill>
                  <a:srgbClr val="0C343D"/>
                </a:solidFill>
                <a:latin typeface="Francois One"/>
                <a:ea typeface="Francois One"/>
                <a:cs typeface="Francois One"/>
                <a:sym typeface="Francois One"/>
              </a:defRPr>
            </a:lvl9pPr>
          </a:lstStyle>
          <a:p/>
        </p:txBody>
      </p:sp>
      <p:sp>
        <p:nvSpPr>
          <p:cNvPr id="23" name="Google Shape;23;p4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1pPr>
            <a:lvl2pPr lvl="1"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2pPr>
            <a:lvl3pPr lvl="2"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3pPr>
            <a:lvl4pPr lvl="3"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4pPr>
            <a:lvl5pPr lvl="4"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5pPr>
            <a:lvl6pPr lvl="5"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6pPr>
            <a:lvl7pPr lvl="6"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7pPr>
            <a:lvl8pPr lvl="7"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8pPr>
            <a:lvl9pPr lvl="8"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9pPr>
          </a:lstStyle>
          <a:p/>
        </p:txBody>
      </p:sp>
      <p:sp>
        <p:nvSpPr>
          <p:cNvPr id="26" name="Google Shape;26;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rgbClr val="0C343D"/>
              </a:buClr>
              <a:buSzPts val="1400"/>
              <a:buFont typeface="Arial"/>
              <a:buChar char="●"/>
              <a:defRPr b="0" i="0" sz="1400" u="none" cap="none" strike="noStrike">
                <a:solidFill>
                  <a:srgbClr val="0C343D"/>
                </a:solidFill>
                <a:latin typeface="Arial"/>
                <a:ea typeface="Arial"/>
                <a:cs typeface="Arial"/>
                <a:sym typeface="Arial"/>
              </a:defRPr>
            </a:lvl1pPr>
            <a:lvl2pPr indent="-304800" lvl="1" marL="914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2pPr>
            <a:lvl3pPr indent="-304800" lvl="2" marL="1371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3pPr>
            <a:lvl4pPr indent="-304800" lvl="3" marL="18288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4pPr>
            <a:lvl5pPr indent="-304800" lvl="4" marL="22860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5pPr>
            <a:lvl6pPr indent="-304800" lvl="5" marL="27432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6pPr>
            <a:lvl7pPr indent="-304800" lvl="6" marL="3200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7pPr>
            <a:lvl8pPr indent="-304800" lvl="7" marL="3657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8pPr>
            <a:lvl9pPr indent="-304800" lvl="8" marL="4114800" marR="0" algn="l">
              <a:lnSpc>
                <a:spcPct val="115000"/>
              </a:lnSpc>
              <a:spcBef>
                <a:spcPts val="1600"/>
              </a:spcBef>
              <a:spcAft>
                <a:spcPts val="1600"/>
              </a:spcAft>
              <a:buClr>
                <a:srgbClr val="0C343D"/>
              </a:buClr>
              <a:buSzPts val="1200"/>
              <a:buFont typeface="Arial"/>
              <a:buChar char="■"/>
              <a:defRPr b="0" i="0" sz="1200" u="none" cap="none" strike="noStrike">
                <a:solidFill>
                  <a:srgbClr val="0C343D"/>
                </a:solidFill>
                <a:latin typeface="Arial"/>
                <a:ea typeface="Arial"/>
                <a:cs typeface="Arial"/>
                <a:sym typeface="Arial"/>
              </a:defRPr>
            </a:lvl9pPr>
          </a:lstStyle>
          <a:p/>
        </p:txBody>
      </p:sp>
      <p:sp>
        <p:nvSpPr>
          <p:cNvPr id="27" name="Google Shape;27;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rgbClr val="0C343D"/>
              </a:buClr>
              <a:buSzPts val="1400"/>
              <a:buFont typeface="Arial"/>
              <a:buChar char="●"/>
              <a:defRPr b="0" i="0" sz="1400" u="none" cap="none" strike="noStrike">
                <a:solidFill>
                  <a:srgbClr val="0C343D"/>
                </a:solidFill>
                <a:latin typeface="Arial"/>
                <a:ea typeface="Arial"/>
                <a:cs typeface="Arial"/>
                <a:sym typeface="Arial"/>
              </a:defRPr>
            </a:lvl1pPr>
            <a:lvl2pPr indent="-304800" lvl="1" marL="914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2pPr>
            <a:lvl3pPr indent="-304800" lvl="2" marL="1371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3pPr>
            <a:lvl4pPr indent="-304800" lvl="3" marL="18288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4pPr>
            <a:lvl5pPr indent="-304800" lvl="4" marL="22860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5pPr>
            <a:lvl6pPr indent="-304800" lvl="5" marL="27432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6pPr>
            <a:lvl7pPr indent="-304800" lvl="6" marL="3200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7pPr>
            <a:lvl8pPr indent="-304800" lvl="7" marL="3657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8pPr>
            <a:lvl9pPr indent="-304800" lvl="8" marL="4114800" marR="0" algn="l">
              <a:lnSpc>
                <a:spcPct val="115000"/>
              </a:lnSpc>
              <a:spcBef>
                <a:spcPts val="1600"/>
              </a:spcBef>
              <a:spcAft>
                <a:spcPts val="1600"/>
              </a:spcAft>
              <a:buClr>
                <a:srgbClr val="0C343D"/>
              </a:buClr>
              <a:buSzPts val="1200"/>
              <a:buFont typeface="Arial"/>
              <a:buChar char="■"/>
              <a:defRPr b="0" i="0" sz="1200" u="none" cap="none" strike="noStrike">
                <a:solidFill>
                  <a:srgbClr val="0C343D"/>
                </a:solidFill>
                <a:latin typeface="Arial"/>
                <a:ea typeface="Arial"/>
                <a:cs typeface="Arial"/>
                <a:sym typeface="Arial"/>
              </a:defRPr>
            </a:lvl9pPr>
          </a:lstStyle>
          <a:p/>
        </p:txBody>
      </p:sp>
      <p:sp>
        <p:nvSpPr>
          <p:cNvPr id="28" name="Google Shape;28;p4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1pPr>
            <a:lvl2pPr lvl="1"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2pPr>
            <a:lvl3pPr lvl="2"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3pPr>
            <a:lvl4pPr lvl="3"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4pPr>
            <a:lvl5pPr lvl="4"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5pPr>
            <a:lvl6pPr lvl="5"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6pPr>
            <a:lvl7pPr lvl="6"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7pPr>
            <a:lvl8pPr lvl="7"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8pPr>
            <a:lvl9pPr lvl="8" marR="0" algn="l">
              <a:lnSpc>
                <a:spcPct val="100000"/>
              </a:lnSpc>
              <a:spcBef>
                <a:spcPts val="0"/>
              </a:spcBef>
              <a:spcAft>
                <a:spcPts val="0"/>
              </a:spcAft>
              <a:buClr>
                <a:srgbClr val="0C343D"/>
              </a:buClr>
              <a:buSzPts val="2400"/>
              <a:buFont typeface="Francois One"/>
              <a:buNone/>
              <a:defRPr b="0" i="0" sz="2400" u="none" cap="none" strike="noStrike">
                <a:solidFill>
                  <a:srgbClr val="0C343D"/>
                </a:solidFill>
                <a:latin typeface="Francois One"/>
                <a:ea typeface="Francois One"/>
                <a:cs typeface="Francois One"/>
                <a:sym typeface="Francois One"/>
              </a:defRPr>
            </a:lvl9pPr>
          </a:lstStyle>
          <a:p/>
        </p:txBody>
      </p:sp>
      <p:sp>
        <p:nvSpPr>
          <p:cNvPr id="31" name="Google Shape;31;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1pPr>
            <a:lvl2pPr indent="-304800" lvl="1" marL="914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2pPr>
            <a:lvl3pPr indent="-304800" lvl="2" marL="1371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3pPr>
            <a:lvl4pPr indent="-304800" lvl="3" marL="18288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4pPr>
            <a:lvl5pPr indent="-304800" lvl="4" marL="22860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5pPr>
            <a:lvl6pPr indent="-304800" lvl="5" marL="27432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6pPr>
            <a:lvl7pPr indent="-304800" lvl="6" marL="32004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7pPr>
            <a:lvl8pPr indent="-304800" lvl="7" marL="3657600" marR="0" algn="l">
              <a:lnSpc>
                <a:spcPct val="115000"/>
              </a:lnSpc>
              <a:spcBef>
                <a:spcPts val="1600"/>
              </a:spcBef>
              <a:spcAft>
                <a:spcPts val="0"/>
              </a:spcAft>
              <a:buClr>
                <a:srgbClr val="0C343D"/>
              </a:buClr>
              <a:buSzPts val="1200"/>
              <a:buFont typeface="Arial"/>
              <a:buChar char="○"/>
              <a:defRPr b="0" i="0" sz="1200" u="none" cap="none" strike="noStrike">
                <a:solidFill>
                  <a:srgbClr val="0C343D"/>
                </a:solidFill>
                <a:latin typeface="Arial"/>
                <a:ea typeface="Arial"/>
                <a:cs typeface="Arial"/>
                <a:sym typeface="Arial"/>
              </a:defRPr>
            </a:lvl8pPr>
            <a:lvl9pPr indent="-304800" lvl="8" marL="4114800" marR="0" algn="l">
              <a:lnSpc>
                <a:spcPct val="115000"/>
              </a:lnSpc>
              <a:spcBef>
                <a:spcPts val="1600"/>
              </a:spcBef>
              <a:spcAft>
                <a:spcPts val="1600"/>
              </a:spcAft>
              <a:buClr>
                <a:srgbClr val="0C343D"/>
              </a:buClr>
              <a:buSzPts val="1200"/>
              <a:buFont typeface="Arial"/>
              <a:buChar char="■"/>
              <a:defRPr b="0" i="0" sz="1200" u="none" cap="none" strike="noStrike">
                <a:solidFill>
                  <a:srgbClr val="0C343D"/>
                </a:solidFill>
                <a:latin typeface="Arial"/>
                <a:ea typeface="Arial"/>
                <a:cs typeface="Arial"/>
                <a:sym typeface="Arial"/>
              </a:defRPr>
            </a:lvl9pPr>
          </a:lstStyle>
          <a:p/>
        </p:txBody>
      </p:sp>
      <p:sp>
        <p:nvSpPr>
          <p:cNvPr id="32" name="Google Shape;32;p4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1pPr>
            <a:lvl2pPr lvl="1"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2pPr>
            <a:lvl3pPr lvl="2"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3pPr>
            <a:lvl4pPr lvl="3"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4pPr>
            <a:lvl5pPr lvl="4"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5pPr>
            <a:lvl6pPr lvl="5"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6pPr>
            <a:lvl7pPr lvl="6"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7pPr>
            <a:lvl8pPr lvl="7"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8pPr>
            <a:lvl9pPr lvl="8" marR="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9pPr>
          </a:lstStyle>
          <a:p/>
        </p:txBody>
      </p:sp>
      <p:sp>
        <p:nvSpPr>
          <p:cNvPr id="35" name="Google Shape;35;p4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45"/>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C343D"/>
              </a:buClr>
              <a:buSzPts val="4800"/>
              <a:buFont typeface="Francois One"/>
              <a:buNone/>
              <a:defRPr b="0" i="0" sz="4800" u="none" cap="none" strike="noStrike">
                <a:solidFill>
                  <a:srgbClr val="0C343D"/>
                </a:solidFill>
                <a:latin typeface="Francois One"/>
                <a:ea typeface="Francois One"/>
                <a:cs typeface="Francois One"/>
                <a:sym typeface="Francois One"/>
              </a:defRPr>
            </a:lvl1pPr>
            <a:lvl2pPr lvl="1"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2pPr>
            <a:lvl3pPr lvl="2"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3pPr>
            <a:lvl4pPr lvl="3"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4pPr>
            <a:lvl5pPr lvl="4"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5pPr>
            <a:lvl6pPr lvl="5"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6pPr>
            <a:lvl7pPr lvl="6"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7pPr>
            <a:lvl8pPr lvl="7"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8pPr>
            <a:lvl9pPr lvl="8" marR="0" algn="l">
              <a:lnSpc>
                <a:spcPct val="100000"/>
              </a:lnSpc>
              <a:spcBef>
                <a:spcPts val="0"/>
              </a:spcBef>
              <a:spcAft>
                <a:spcPts val="0"/>
              </a:spcAft>
              <a:buClr>
                <a:srgbClr val="073763"/>
              </a:buClr>
              <a:buSzPts val="4800"/>
              <a:buFont typeface="Francois One"/>
              <a:buNone/>
              <a:defRPr b="0" i="0" sz="4800" u="none" cap="none" strike="noStrike">
                <a:solidFill>
                  <a:srgbClr val="073763"/>
                </a:solidFill>
                <a:latin typeface="Francois One"/>
                <a:ea typeface="Francois One"/>
                <a:cs typeface="Francois One"/>
                <a:sym typeface="Francois One"/>
              </a:defRPr>
            </a:lvl9pPr>
          </a:lstStyle>
          <a:p/>
        </p:txBody>
      </p:sp>
      <p:sp>
        <p:nvSpPr>
          <p:cNvPr id="38" name="Google Shape;38;p4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6"/>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46"/>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46"/>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4200"/>
              <a:buFont typeface="Francois One"/>
              <a:buNone/>
              <a:defRPr b="0" i="0" sz="4200" u="none" cap="none" strike="noStrike">
                <a:solidFill>
                  <a:srgbClr val="0C343D"/>
                </a:solidFill>
                <a:latin typeface="Francois One"/>
                <a:ea typeface="Francois One"/>
                <a:cs typeface="Francois One"/>
                <a:sym typeface="Francois One"/>
              </a:defRPr>
            </a:lvl9pPr>
          </a:lstStyle>
          <a:p/>
        </p:txBody>
      </p:sp>
      <p:sp>
        <p:nvSpPr>
          <p:cNvPr id="43" name="Google Shape;43;p46"/>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
        <p:nvSpPr>
          <p:cNvPr id="44" name="Google Shape;44;p46"/>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55600" lvl="0" marL="457200" marR="0" algn="l">
              <a:lnSpc>
                <a:spcPct val="115000"/>
              </a:lnSpc>
              <a:spcBef>
                <a:spcPts val="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1pPr>
            <a:lvl2pPr indent="-355600" lvl="1" marL="9144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2pPr>
            <a:lvl3pPr indent="-355600" lvl="2" marL="13716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55600" lvl="3" marL="18288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4pPr>
            <a:lvl5pPr indent="-355600" lvl="4" marL="22860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indent="-355600" lvl="6" marL="32004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indent="-355600" lvl="7" marL="3657600" marR="0" algn="l">
              <a:lnSpc>
                <a:spcPct val="115000"/>
              </a:lnSpc>
              <a:spcBef>
                <a:spcPts val="16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indent="-355600" lvl="8" marL="4114800" marR="0" algn="l">
              <a:lnSpc>
                <a:spcPct val="115000"/>
              </a:lnSpc>
              <a:spcBef>
                <a:spcPts val="1600"/>
              </a:spcBef>
              <a:spcAft>
                <a:spcPts val="160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45" name="Google Shape;45;p4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chemeClr val="dk1"/>
              </a:buClr>
              <a:buSzPts val="2100"/>
              <a:buFont typeface="Oswald"/>
              <a:buNone/>
              <a:defRPr b="0" i="0" sz="2100" u="none" cap="none" strike="noStrike">
                <a:solidFill>
                  <a:schemeClr val="dk1"/>
                </a:solidFill>
                <a:latin typeface="Oswald"/>
                <a:ea typeface="Oswald"/>
                <a:cs typeface="Oswald"/>
                <a:sym typeface="Oswald"/>
              </a:defRPr>
            </a:lvl1pPr>
          </a:lstStyle>
          <a:p/>
        </p:txBody>
      </p:sp>
      <p:sp>
        <p:nvSpPr>
          <p:cNvPr id="48" name="Google Shape;48;p4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48"/>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1pPr>
            <a:lvl2pPr lvl="1"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2pPr>
            <a:lvl3pPr lvl="2"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3pPr>
            <a:lvl4pPr lvl="3"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4pPr>
            <a:lvl5pPr lvl="4"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5pPr>
            <a:lvl6pPr lvl="5"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6pPr>
            <a:lvl7pPr lvl="6"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7pPr>
            <a:lvl8pPr lvl="7"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8pPr>
            <a:lvl9pPr lvl="8" marR="0" algn="ctr">
              <a:lnSpc>
                <a:spcPct val="100000"/>
              </a:lnSpc>
              <a:spcBef>
                <a:spcPts val="0"/>
              </a:spcBef>
              <a:spcAft>
                <a:spcPts val="0"/>
              </a:spcAft>
              <a:buClr>
                <a:srgbClr val="0C343D"/>
              </a:buClr>
              <a:buSzPts val="12000"/>
              <a:buFont typeface="Francois One"/>
              <a:buNone/>
              <a:defRPr b="0" i="0" sz="12000" u="none" cap="none" strike="noStrike">
                <a:solidFill>
                  <a:srgbClr val="0C343D"/>
                </a:solidFill>
                <a:latin typeface="Francois One"/>
                <a:ea typeface="Francois One"/>
                <a:cs typeface="Francois One"/>
                <a:sym typeface="Francois One"/>
              </a:defRPr>
            </a:lvl9pPr>
          </a:lstStyle>
          <a:p>
            <a:r>
              <a:t>xx%</a:t>
            </a:r>
          </a:p>
        </p:txBody>
      </p:sp>
      <p:sp>
        <p:nvSpPr>
          <p:cNvPr id="51" name="Google Shape;51;p48"/>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Autofit/>
          </a:bodyPr>
          <a:lstStyle>
            <a:lvl1pPr indent="-355600" lvl="0" marL="457200" marR="0" algn="ctr">
              <a:lnSpc>
                <a:spcPct val="115000"/>
              </a:lnSpc>
              <a:spcBef>
                <a:spcPts val="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1pPr>
            <a:lvl2pPr indent="-355600" lvl="1" marL="9144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2pPr>
            <a:lvl3pPr indent="-355600" lvl="2" marL="13716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3pPr>
            <a:lvl4pPr indent="-355600" lvl="3" marL="18288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4pPr>
            <a:lvl5pPr indent="-355600" lvl="4" marL="22860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5pPr>
            <a:lvl6pPr indent="-355600" lvl="5" marL="27432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6pPr>
            <a:lvl7pPr indent="-355600" lvl="6" marL="32004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7pPr>
            <a:lvl8pPr indent="-355600" lvl="7" marL="3657600" marR="0" algn="ctr">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8pPr>
            <a:lvl9pPr indent="-355600" lvl="8" marL="4114800" marR="0" algn="ctr">
              <a:lnSpc>
                <a:spcPct val="115000"/>
              </a:lnSpc>
              <a:spcBef>
                <a:spcPts val="1600"/>
              </a:spcBef>
              <a:spcAft>
                <a:spcPts val="1600"/>
              </a:spcAft>
              <a:buClr>
                <a:srgbClr val="0C343D"/>
              </a:buClr>
              <a:buSzPts val="2000"/>
              <a:buFont typeface="Arial"/>
              <a:buChar char="■"/>
              <a:defRPr b="0" i="0" sz="2000" u="none" cap="none" strike="noStrike">
                <a:solidFill>
                  <a:srgbClr val="0C343D"/>
                </a:solidFill>
                <a:latin typeface="Arial"/>
                <a:ea typeface="Arial"/>
                <a:cs typeface="Arial"/>
                <a:sym typeface="Arial"/>
              </a:defRPr>
            </a:lvl9pPr>
          </a:lstStyle>
          <a:p/>
        </p:txBody>
      </p:sp>
      <p:sp>
        <p:nvSpPr>
          <p:cNvPr id="52" name="Google Shape;52;p4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4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rgbClr val="FFFFFF"/>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1pPr>
            <a:lvl2pPr lvl="1"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2pPr>
            <a:lvl3pPr lvl="2"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3pPr>
            <a:lvl4pPr lvl="3"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4pPr>
            <a:lvl5pPr lvl="4"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5pPr>
            <a:lvl6pPr lvl="5"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6pPr>
            <a:lvl7pPr lvl="6"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7pPr>
            <a:lvl8pPr lvl="7"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8pPr>
            <a:lvl9pPr lvl="8" marR="0" rtl="0" algn="l">
              <a:lnSpc>
                <a:spcPct val="100000"/>
              </a:lnSpc>
              <a:spcBef>
                <a:spcPts val="0"/>
              </a:spcBef>
              <a:spcAft>
                <a:spcPts val="0"/>
              </a:spcAft>
              <a:buClr>
                <a:srgbClr val="0C343D"/>
              </a:buClr>
              <a:buSzPts val="3000"/>
              <a:buFont typeface="Francois One"/>
              <a:buNone/>
              <a:defRPr b="0" i="0" sz="3000" u="none" cap="none" strike="noStrike">
                <a:solidFill>
                  <a:srgbClr val="0C343D"/>
                </a:solidFill>
                <a:latin typeface="Francois One"/>
                <a:ea typeface="Francois One"/>
                <a:cs typeface="Francois One"/>
                <a:sym typeface="Francois One"/>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15000"/>
              </a:lnSpc>
              <a:spcBef>
                <a:spcPts val="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1pPr>
            <a:lvl2pPr indent="-355600" lvl="1" marL="9144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2pPr>
            <a:lvl3pPr indent="-355600" lvl="2" marL="13716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3pPr>
            <a:lvl4pPr indent="-355600" lvl="3" marL="18288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4pPr>
            <a:lvl5pPr indent="-355600" lvl="4" marL="22860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5pPr>
            <a:lvl6pPr indent="-355600" lvl="5" marL="27432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6pPr>
            <a:lvl7pPr indent="-355600" lvl="6" marL="32004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7pPr>
            <a:lvl8pPr indent="-355600" lvl="7" marL="3657600" marR="0" rtl="0" algn="l">
              <a:lnSpc>
                <a:spcPct val="115000"/>
              </a:lnSpc>
              <a:spcBef>
                <a:spcPts val="1600"/>
              </a:spcBef>
              <a:spcAft>
                <a:spcPts val="0"/>
              </a:spcAft>
              <a:buClr>
                <a:srgbClr val="0C343D"/>
              </a:buClr>
              <a:buSzPts val="2000"/>
              <a:buFont typeface="Arial"/>
              <a:buChar char="○"/>
              <a:defRPr b="0" i="0" sz="2000" u="none" cap="none" strike="noStrike">
                <a:solidFill>
                  <a:srgbClr val="0C343D"/>
                </a:solidFill>
                <a:latin typeface="Arial"/>
                <a:ea typeface="Arial"/>
                <a:cs typeface="Arial"/>
                <a:sym typeface="Arial"/>
              </a:defRPr>
            </a:lvl8pPr>
            <a:lvl9pPr indent="-355600" lvl="8" marL="4114800" marR="0" rtl="0" algn="l">
              <a:lnSpc>
                <a:spcPct val="115000"/>
              </a:lnSpc>
              <a:spcBef>
                <a:spcPts val="1600"/>
              </a:spcBef>
              <a:spcAft>
                <a:spcPts val="1600"/>
              </a:spcAft>
              <a:buClr>
                <a:srgbClr val="0C343D"/>
              </a:buClr>
              <a:buSzPts val="2000"/>
              <a:buFont typeface="Arial"/>
              <a:buChar char="■"/>
              <a:defRPr b="0" i="0" sz="2000" u="none" cap="none" strike="noStrike">
                <a:solidFill>
                  <a:srgbClr val="0C343D"/>
                </a:solidFill>
                <a:latin typeface="Arial"/>
                <a:ea typeface="Arial"/>
                <a:cs typeface="Arial"/>
                <a:sym typeface="Arial"/>
              </a:defRPr>
            </a:lvl9pPr>
          </a:lstStyle>
          <a:p/>
        </p:txBody>
      </p:sp>
      <p:sp>
        <p:nvSpPr>
          <p:cNvPr id="8" name="Google Shape;8;p3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geotraceroute.com/new.php?host=enter.name.here&amp;node=207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tinyurl.com/cs168-sp25-dis" TargetMode="Externa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g28599867c14_0_0"/>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C343D"/>
              </a:buClr>
              <a:buSzPts val="4800"/>
              <a:buFont typeface="Francois One"/>
              <a:buNone/>
            </a:pPr>
            <a:r>
              <a:rPr lang="en"/>
              <a:t>CS168: Discussion 1</a:t>
            </a:r>
            <a:endParaRPr b="0" i="0" sz="4800" u="none" cap="none" strike="noStrike">
              <a:solidFill>
                <a:srgbClr val="0C343D"/>
              </a:solidFill>
              <a:latin typeface="Francois One"/>
              <a:ea typeface="Francois One"/>
              <a:cs typeface="Francois One"/>
              <a:sym typeface="Francois One"/>
            </a:endParaRPr>
          </a:p>
        </p:txBody>
      </p:sp>
      <p:sp>
        <p:nvSpPr>
          <p:cNvPr id="60" name="Google Shape;60;g28599867c14_0_0"/>
          <p:cNvSpPr txBox="1"/>
          <p:nvPr>
            <p:ph idx="1" type="subTitle"/>
          </p:nvPr>
        </p:nvSpPr>
        <p:spPr>
          <a:xfrm>
            <a:off x="671250" y="3174875"/>
            <a:ext cx="7801500" cy="110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Arial"/>
              <a:buNone/>
            </a:pPr>
            <a:r>
              <a:rPr b="0" i="0" lang="en" sz="3000" u="none" cap="none" strike="noStrike">
                <a:solidFill>
                  <a:srgbClr val="FFFFFF"/>
                </a:solidFill>
                <a:latin typeface="Arial"/>
                <a:ea typeface="Arial"/>
                <a:cs typeface="Arial"/>
                <a:sym typeface="Arial"/>
              </a:rPr>
              <a:t>Intro to the Internet I</a:t>
            </a:r>
            <a:endParaRPr b="0" i="0" sz="30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2400"/>
              <a:buFont typeface="Arial"/>
              <a:buNone/>
            </a:pPr>
            <a:r>
              <a:rPr lang="en" sz="3000"/>
              <a:t>Spring 2025</a:t>
            </a:r>
            <a:endParaRPr sz="30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28599867c14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Agenda</a:t>
            </a:r>
            <a:endParaRPr b="0" i="0" sz="3000" u="none" cap="none" strike="noStrike">
              <a:solidFill>
                <a:srgbClr val="0C343D"/>
              </a:solidFill>
              <a:latin typeface="Francois One"/>
              <a:ea typeface="Francois One"/>
              <a:cs typeface="Francois One"/>
              <a:sym typeface="Francois One"/>
            </a:endParaRPr>
          </a:p>
        </p:txBody>
      </p:sp>
      <p:sp>
        <p:nvSpPr>
          <p:cNvPr id="66" name="Google Shape;66;g28599867c14_0_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15000"/>
              </a:lnSpc>
              <a:spcBef>
                <a:spcPts val="0"/>
              </a:spcBef>
              <a:spcAft>
                <a:spcPts val="0"/>
              </a:spcAft>
              <a:buClr>
                <a:srgbClr val="0C343D"/>
              </a:buClr>
              <a:buSzPts val="2100"/>
              <a:buFont typeface="Arial"/>
              <a:buChar char="●"/>
            </a:pPr>
            <a:r>
              <a:rPr b="0" i="0" lang="en" sz="2100" u="none" cap="none" strike="noStrike">
                <a:solidFill>
                  <a:srgbClr val="0C343D"/>
                </a:solidFill>
                <a:latin typeface="Arial"/>
                <a:ea typeface="Arial"/>
                <a:cs typeface="Arial"/>
                <a:sym typeface="Arial"/>
              </a:rPr>
              <a:t>Introductions</a:t>
            </a:r>
            <a:endParaRPr b="0" i="0" sz="2100" u="none" cap="none" strike="noStrike">
              <a:solidFill>
                <a:srgbClr val="0C343D"/>
              </a:solidFill>
              <a:latin typeface="Arial"/>
              <a:ea typeface="Arial"/>
              <a:cs typeface="Arial"/>
              <a:sym typeface="Arial"/>
            </a:endParaRPr>
          </a:p>
          <a:p>
            <a:pPr indent="-361950" lvl="0" marL="457200" rtl="0" algn="l">
              <a:spcBef>
                <a:spcPts val="0"/>
              </a:spcBef>
              <a:spcAft>
                <a:spcPts val="0"/>
              </a:spcAft>
              <a:buSzPts val="2100"/>
              <a:buChar char="●"/>
            </a:pPr>
            <a:r>
              <a:rPr lang="en" sz="2100"/>
              <a:t>Logistics</a:t>
            </a:r>
            <a:endParaRPr sz="2100"/>
          </a:p>
          <a:p>
            <a:pPr indent="-361950" lvl="0" marL="457200" marR="0" rtl="0" algn="l">
              <a:lnSpc>
                <a:spcPct val="115000"/>
              </a:lnSpc>
              <a:spcBef>
                <a:spcPts val="0"/>
              </a:spcBef>
              <a:spcAft>
                <a:spcPts val="0"/>
              </a:spcAft>
              <a:buClr>
                <a:srgbClr val="0C343D"/>
              </a:buClr>
              <a:buSzPts val="2100"/>
              <a:buFont typeface="Arial"/>
              <a:buChar char="●"/>
            </a:pPr>
            <a:r>
              <a:rPr b="0" i="0" lang="en" sz="2100" u="none" cap="none" strike="noStrike">
                <a:solidFill>
                  <a:srgbClr val="0C343D"/>
                </a:solidFill>
                <a:latin typeface="Arial"/>
                <a:ea typeface="Arial"/>
                <a:cs typeface="Arial"/>
                <a:sym typeface="Arial"/>
              </a:rPr>
              <a:t>Terms</a:t>
            </a:r>
            <a:endParaRPr b="0" i="0" sz="2100" u="none" cap="none" strike="noStrike">
              <a:solidFill>
                <a:srgbClr val="0C343D"/>
              </a:solidFill>
              <a:latin typeface="Arial"/>
              <a:ea typeface="Arial"/>
              <a:cs typeface="Arial"/>
              <a:sym typeface="Arial"/>
            </a:endParaRPr>
          </a:p>
          <a:p>
            <a:pPr indent="-361950" lvl="0" marL="457200" marR="0" rtl="0" algn="l">
              <a:lnSpc>
                <a:spcPct val="115000"/>
              </a:lnSpc>
              <a:spcBef>
                <a:spcPts val="0"/>
              </a:spcBef>
              <a:spcAft>
                <a:spcPts val="0"/>
              </a:spcAft>
              <a:buClr>
                <a:srgbClr val="0C343D"/>
              </a:buClr>
              <a:buSzPts val="2100"/>
              <a:buFont typeface="Arial"/>
              <a:buChar char="●"/>
            </a:pPr>
            <a:r>
              <a:rPr b="0" i="0" lang="en" sz="2100" u="none" cap="none" strike="noStrike">
                <a:solidFill>
                  <a:srgbClr val="0C343D"/>
                </a:solidFill>
                <a:latin typeface="Arial"/>
                <a:ea typeface="Arial"/>
                <a:cs typeface="Arial"/>
                <a:sym typeface="Arial"/>
              </a:rPr>
              <a:t>Poking the Internet</a:t>
            </a:r>
            <a:endParaRPr b="0" i="0" sz="2100" u="none" cap="none" strike="noStrike">
              <a:solidFill>
                <a:srgbClr val="0C343D"/>
              </a:solidFill>
              <a:latin typeface="Arial"/>
              <a:ea typeface="Arial"/>
              <a:cs typeface="Arial"/>
              <a:sym typeface="Arial"/>
            </a:endParaRPr>
          </a:p>
          <a:p>
            <a:pPr indent="-361950" lvl="0" marL="457200" marR="0" rtl="0" algn="l">
              <a:lnSpc>
                <a:spcPct val="115000"/>
              </a:lnSpc>
              <a:spcBef>
                <a:spcPts val="0"/>
              </a:spcBef>
              <a:spcAft>
                <a:spcPts val="0"/>
              </a:spcAft>
              <a:buSzPts val="2100"/>
              <a:buChar char="●"/>
            </a:pPr>
            <a:r>
              <a:rPr lang="en" sz="2100"/>
              <a:t>Intro to Project Traceroute</a:t>
            </a:r>
            <a:endParaRPr sz="2100"/>
          </a:p>
          <a:p>
            <a:pPr indent="0" lvl="0" marL="0" marR="0" rtl="0" algn="l">
              <a:lnSpc>
                <a:spcPct val="115000"/>
              </a:lnSpc>
              <a:spcBef>
                <a:spcPts val="0"/>
              </a:spcBef>
              <a:spcAft>
                <a:spcPts val="0"/>
              </a:spcAft>
              <a:buSzPts val="2000"/>
              <a:buNone/>
            </a:pPr>
            <a:r>
              <a:t/>
            </a:r>
            <a:endParaRPr sz="2100"/>
          </a:p>
          <a:p>
            <a:pPr indent="0" lvl="0" marL="0" marR="0" rtl="0" algn="l">
              <a:lnSpc>
                <a:spcPct val="115000"/>
              </a:lnSpc>
              <a:spcBef>
                <a:spcPts val="0"/>
              </a:spcBef>
              <a:spcAft>
                <a:spcPts val="0"/>
              </a:spcAft>
              <a:buSzPts val="2000"/>
              <a:buNone/>
            </a:pPr>
            <a:r>
              <a:t/>
            </a:r>
            <a:endParaRPr sz="2100"/>
          </a:p>
          <a:p>
            <a:pPr indent="0" lvl="0" marL="0" marR="0" rtl="0" algn="l">
              <a:lnSpc>
                <a:spcPct val="115000"/>
              </a:lnSpc>
              <a:spcBef>
                <a:spcPts val="0"/>
              </a:spcBef>
              <a:spcAft>
                <a:spcPts val="0"/>
              </a:spcAft>
              <a:buSzPts val="2000"/>
              <a:buNone/>
            </a:pPr>
            <a:r>
              <a:t/>
            </a:r>
            <a:endParaRPr sz="2100"/>
          </a:p>
          <a:p>
            <a:pPr indent="0" lvl="0" marL="0" marR="0" rtl="0" algn="l">
              <a:lnSpc>
                <a:spcPct val="115000"/>
              </a:lnSpc>
              <a:spcBef>
                <a:spcPts val="0"/>
              </a:spcBef>
              <a:spcAft>
                <a:spcPts val="0"/>
              </a:spcAft>
              <a:buSzPts val="2000"/>
              <a:buNone/>
            </a:pPr>
            <a:r>
              <a:t/>
            </a:r>
            <a:endParaRPr sz="2100"/>
          </a:p>
          <a:p>
            <a:pPr indent="0" lvl="0" marL="0" marR="0" rtl="0" algn="l">
              <a:lnSpc>
                <a:spcPct val="115000"/>
              </a:lnSpc>
              <a:spcBef>
                <a:spcPts val="0"/>
              </a:spcBef>
              <a:spcAft>
                <a:spcPts val="0"/>
              </a:spcAft>
              <a:buSzPts val="2000"/>
              <a:buNone/>
            </a:pPr>
            <a:r>
              <a:rPr i="1" lang="en" sz="1500"/>
              <a:t>Light discussion today</a:t>
            </a:r>
            <a:endParaRPr i="1"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 name="Shape 70"/>
        <p:cNvGrpSpPr/>
        <p:nvPr/>
      </p:nvGrpSpPr>
      <p:grpSpPr>
        <a:xfrm>
          <a:off x="0" y="0"/>
          <a:ext cx="0" cy="0"/>
          <a:chOff x="0" y="0"/>
          <a:chExt cx="0" cy="0"/>
        </a:xfrm>
      </p:grpSpPr>
      <p:sp>
        <p:nvSpPr>
          <p:cNvPr id="71" name="Google Shape;71;g328f0a7e353_1_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About Me</a:t>
            </a:r>
            <a:endParaRPr/>
          </a:p>
        </p:txBody>
      </p:sp>
      <p:sp>
        <p:nvSpPr>
          <p:cNvPr id="72" name="Google Shape;72;g328f0a7e353_1_1"/>
          <p:cNvSpPr txBox="1"/>
          <p:nvPr>
            <p:ph idx="1" type="body"/>
          </p:nvPr>
        </p:nvSpPr>
        <p:spPr>
          <a:xfrm>
            <a:off x="2806425" y="1152475"/>
            <a:ext cx="6177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I’m a X{th,nd,rd} year PhD student studying Networking and Systems with Scott Shenker and Sylvia Ratnasamy.</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I’m from &lt;origin&gt;. I like &lt;hobby1&gt;, &lt;hobby2&gt;, and &lt;hobby3&gt;.</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My office hours: Monday 10pm-11pm in Soda Hall 341B.</a:t>
            </a:r>
            <a:endParaRPr/>
          </a:p>
          <a:p>
            <a:pPr indent="0" lvl="0" marL="0" rtl="0" algn="l">
              <a:lnSpc>
                <a:spcPct val="115000"/>
              </a:lnSpc>
              <a:spcBef>
                <a:spcPts val="0"/>
              </a:spcBef>
              <a:spcAft>
                <a:spcPts val="0"/>
              </a:spcAft>
              <a:buSzPts val="2000"/>
              <a:buNone/>
            </a:pPr>
            <a:r>
              <a:rPr lang="en"/>
              <a:t>My email: gobears@berkeley.edu (Edstem is faster though)</a:t>
            </a:r>
            <a:endParaRPr/>
          </a:p>
        </p:txBody>
      </p:sp>
      <p:sp>
        <p:nvSpPr>
          <p:cNvPr id="73" name="Google Shape;73;g328f0a7e353_1_1"/>
          <p:cNvSpPr/>
          <p:nvPr/>
        </p:nvSpPr>
        <p:spPr>
          <a:xfrm>
            <a:off x="517225" y="1254750"/>
            <a:ext cx="1781700" cy="197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CS168 TA Picture Here (fun!)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 name="Shape 77"/>
        <p:cNvGrpSpPr/>
        <p:nvPr/>
      </p:nvGrpSpPr>
      <p:grpSpPr>
        <a:xfrm>
          <a:off x="0" y="0"/>
          <a:ext cx="0" cy="0"/>
          <a:chOff x="0" y="0"/>
          <a:chExt cx="0" cy="0"/>
        </a:xfrm>
      </p:grpSpPr>
      <p:sp>
        <p:nvSpPr>
          <p:cNvPr id="78" name="Google Shape;78;g32983883f50_0_0"/>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About Me - Jaewon (He/Him)</a:t>
            </a:r>
            <a:endParaRPr/>
          </a:p>
        </p:txBody>
      </p:sp>
      <p:sp>
        <p:nvSpPr>
          <p:cNvPr id="79" name="Google Shape;79;g32983883f50_0_0"/>
          <p:cNvSpPr txBox="1"/>
          <p:nvPr>
            <p:ph idx="1" type="body"/>
          </p:nvPr>
        </p:nvSpPr>
        <p:spPr>
          <a:xfrm>
            <a:off x="2806425" y="1000075"/>
            <a:ext cx="6177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I’m </a:t>
            </a:r>
            <a:r>
              <a:rPr lang="en"/>
              <a:t>a senior studying EECS and ORMS. ⧹(⦁ᴗ⦁)⧸</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I’m from South Bay. I like playing tennis, hiking, and urban exploration!</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My office hours (Soda 411):</a:t>
            </a:r>
            <a:endParaRPr/>
          </a:p>
          <a:p>
            <a:pPr indent="-355600" lvl="0" marL="457200" rtl="0" algn="l">
              <a:lnSpc>
                <a:spcPct val="115000"/>
              </a:lnSpc>
              <a:spcBef>
                <a:spcPts val="0"/>
              </a:spcBef>
              <a:spcAft>
                <a:spcPts val="0"/>
              </a:spcAft>
              <a:buSzPts val="2000"/>
              <a:buChar char="-"/>
            </a:pPr>
            <a:r>
              <a:rPr lang="en"/>
              <a:t>Mon: 1-2 PM</a:t>
            </a:r>
            <a:endParaRPr/>
          </a:p>
          <a:p>
            <a:pPr indent="-355600" lvl="0" marL="457200" rtl="0" algn="l">
              <a:lnSpc>
                <a:spcPct val="115000"/>
              </a:lnSpc>
              <a:spcBef>
                <a:spcPts val="0"/>
              </a:spcBef>
              <a:spcAft>
                <a:spcPts val="0"/>
              </a:spcAft>
              <a:buSzPts val="2000"/>
              <a:buChar char="-"/>
            </a:pPr>
            <a:r>
              <a:rPr lang="en"/>
              <a:t>Wed: 11-1 PM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2000"/>
              <a:buNone/>
            </a:pPr>
            <a:r>
              <a:rPr lang="en"/>
              <a:t>My email: jaewon.lee@berkeley.edu (please include “[CS 168]” in the subject; Edstem is faster though)</a:t>
            </a:r>
            <a:endParaRPr/>
          </a:p>
        </p:txBody>
      </p:sp>
      <p:pic>
        <p:nvPicPr>
          <p:cNvPr id="80" name="Google Shape;80;g32983883f50_0_0"/>
          <p:cNvPicPr preferRelativeResize="0"/>
          <p:nvPr/>
        </p:nvPicPr>
        <p:blipFill rotWithShape="1">
          <a:blip r:embed="rId3">
            <a:alphaModFix/>
          </a:blip>
          <a:srcRect b="0" l="0" r="0" t="0"/>
          <a:stretch/>
        </p:blipFill>
        <p:spPr>
          <a:xfrm>
            <a:off x="364825" y="2016750"/>
            <a:ext cx="1973100" cy="1973100"/>
          </a:xfrm>
          <a:prstGeom prst="rect">
            <a:avLst/>
          </a:prstGeom>
          <a:solidFill>
            <a:schemeClr val="lt2"/>
          </a:solid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 name="Shape 84"/>
        <p:cNvGrpSpPr/>
        <p:nvPr/>
      </p:nvGrpSpPr>
      <p:grpSpPr>
        <a:xfrm>
          <a:off x="0" y="0"/>
          <a:ext cx="0" cy="0"/>
          <a:chOff x="0" y="0"/>
          <a:chExt cx="0" cy="0"/>
        </a:xfrm>
      </p:grpSpPr>
      <p:sp>
        <p:nvSpPr>
          <p:cNvPr id="85" name="Google Shape;85;g32983883f50_1_0"/>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About Me - Ian (He/Him)</a:t>
            </a:r>
            <a:endParaRPr/>
          </a:p>
        </p:txBody>
      </p:sp>
      <p:sp>
        <p:nvSpPr>
          <p:cNvPr id="86" name="Google Shape;86;g32983883f50_1_0"/>
          <p:cNvSpPr txBox="1"/>
          <p:nvPr>
            <p:ph idx="1" type="body"/>
          </p:nvPr>
        </p:nvSpPr>
        <p:spPr>
          <a:xfrm>
            <a:off x="2806425" y="1000075"/>
            <a:ext cx="6177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I’m a senior studying CS and DS. </a:t>
            </a:r>
            <a:endParaRPr/>
          </a:p>
          <a:p>
            <a:pPr indent="0" lvl="0" marL="0" rtl="0" algn="l">
              <a:lnSpc>
                <a:spcPct val="115000"/>
              </a:lnSpc>
              <a:spcBef>
                <a:spcPts val="0"/>
              </a:spcBef>
              <a:spcAft>
                <a:spcPts val="0"/>
              </a:spcAft>
              <a:buSzPts val="2000"/>
              <a:buNone/>
            </a:pPr>
            <a:r>
              <a:t/>
            </a:r>
            <a:endParaRPr/>
          </a:p>
          <a:p>
            <a:pPr indent="0" lvl="0" marL="0" rtl="0" algn="l">
              <a:spcBef>
                <a:spcPts val="0"/>
              </a:spcBef>
              <a:spcAft>
                <a:spcPts val="0"/>
              </a:spcAft>
              <a:buSzPts val="2000"/>
              <a:buNone/>
            </a:pPr>
            <a:r>
              <a:rPr lang="en"/>
              <a:t>I’m from the East Bay. I like playing basketball, tennis, and exploring new restaurants</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My office hours (Soda 411):</a:t>
            </a:r>
            <a:endParaRPr/>
          </a:p>
          <a:p>
            <a:pPr indent="-355600" lvl="0" marL="457200" rtl="0" algn="l">
              <a:lnSpc>
                <a:spcPct val="115000"/>
              </a:lnSpc>
              <a:spcBef>
                <a:spcPts val="0"/>
              </a:spcBef>
              <a:spcAft>
                <a:spcPts val="0"/>
              </a:spcAft>
              <a:buSzPts val="2000"/>
              <a:buChar char="-"/>
            </a:pPr>
            <a:r>
              <a:rPr lang="en"/>
              <a:t>Wed: 11-2 PM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2000"/>
              <a:buNone/>
            </a:pPr>
            <a:r>
              <a:rPr lang="en"/>
              <a:t>My email: ihdong@berkeley.edu (please include “[CS 168]” in the subject; Edstem is faster though)</a:t>
            </a:r>
            <a:endParaRPr/>
          </a:p>
        </p:txBody>
      </p:sp>
      <p:pic>
        <p:nvPicPr>
          <p:cNvPr id="87" name="Google Shape;87;g32983883f50_1_0"/>
          <p:cNvPicPr preferRelativeResize="0"/>
          <p:nvPr/>
        </p:nvPicPr>
        <p:blipFill rotWithShape="1">
          <a:blip r:embed="rId3">
            <a:alphaModFix/>
          </a:blip>
          <a:srcRect b="0" l="0" r="0" t="0"/>
          <a:stretch/>
        </p:blipFill>
        <p:spPr>
          <a:xfrm>
            <a:off x="311702" y="2020100"/>
            <a:ext cx="2330824" cy="1891526"/>
          </a:xfrm>
          <a:prstGeom prst="rect">
            <a:avLst/>
          </a:prstGeom>
          <a:solidFill>
            <a:srgbClr val="E0E0E0"/>
          </a:solidFill>
          <a:ln cap="flat" cmpd="sng" w="9525">
            <a:solidFill>
              <a:srgbClr val="9E9E9E"/>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 name="Shape 91"/>
        <p:cNvGrpSpPr/>
        <p:nvPr/>
      </p:nvGrpSpPr>
      <p:grpSpPr>
        <a:xfrm>
          <a:off x="0" y="0"/>
          <a:ext cx="0" cy="0"/>
          <a:chOff x="0" y="0"/>
          <a:chExt cx="0" cy="0"/>
        </a:xfrm>
      </p:grpSpPr>
      <p:sp>
        <p:nvSpPr>
          <p:cNvPr id="92" name="Google Shape;92;g3298ca4f492_0_0"/>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About Me - Hongbo (He/Him)</a:t>
            </a:r>
            <a:endParaRPr/>
          </a:p>
        </p:txBody>
      </p:sp>
      <p:sp>
        <p:nvSpPr>
          <p:cNvPr id="93" name="Google Shape;93;g3298ca4f492_0_0"/>
          <p:cNvSpPr txBox="1"/>
          <p:nvPr>
            <p:ph idx="1" type="body"/>
          </p:nvPr>
        </p:nvSpPr>
        <p:spPr>
          <a:xfrm>
            <a:off x="2806425" y="1000075"/>
            <a:ext cx="6177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I’m a junior studying CS and Applied Math. </a:t>
            </a:r>
            <a:endParaRPr/>
          </a:p>
          <a:p>
            <a:pPr indent="0" lvl="0" marL="0" rtl="0" algn="l">
              <a:lnSpc>
                <a:spcPct val="115000"/>
              </a:lnSpc>
              <a:spcBef>
                <a:spcPts val="0"/>
              </a:spcBef>
              <a:spcAft>
                <a:spcPts val="0"/>
              </a:spcAft>
              <a:buSzPts val="2000"/>
              <a:buNone/>
            </a:pPr>
            <a:r>
              <a:t/>
            </a:r>
            <a:endParaRPr/>
          </a:p>
          <a:p>
            <a:pPr indent="0" lvl="0" marL="0" rtl="0" algn="l">
              <a:spcBef>
                <a:spcPts val="0"/>
              </a:spcBef>
              <a:spcAft>
                <a:spcPts val="0"/>
              </a:spcAft>
              <a:buSzPts val="2000"/>
              <a:buNone/>
            </a:pPr>
            <a:r>
              <a:rPr lang="en"/>
              <a:t>I’m from the South Bay. I like city-building games, urban hiking, and camping in Soda.</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My office hours (Soda 411):</a:t>
            </a:r>
            <a:endParaRPr/>
          </a:p>
          <a:p>
            <a:pPr indent="-355600" lvl="0" marL="457200" rtl="0" algn="l">
              <a:lnSpc>
                <a:spcPct val="115000"/>
              </a:lnSpc>
              <a:spcBef>
                <a:spcPts val="0"/>
              </a:spcBef>
              <a:spcAft>
                <a:spcPts val="0"/>
              </a:spcAft>
              <a:buSzPts val="2000"/>
              <a:buChar char="-"/>
            </a:pPr>
            <a:r>
              <a:rPr lang="en"/>
              <a:t>Tuesday: 12-3 PM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2000"/>
              <a:buNone/>
            </a:pPr>
            <a:r>
              <a:rPr lang="en"/>
              <a:t>My email: hwei0@berkeley.edu (please include “[CS 168]” in the subject; Edstem is faster though)</a:t>
            </a:r>
            <a:endParaRPr/>
          </a:p>
        </p:txBody>
      </p:sp>
      <p:pic>
        <p:nvPicPr>
          <p:cNvPr id="94" name="Google Shape;94;g3298ca4f492_0_0"/>
          <p:cNvPicPr preferRelativeResize="0"/>
          <p:nvPr/>
        </p:nvPicPr>
        <p:blipFill>
          <a:blip r:embed="rId3">
            <a:alphaModFix/>
          </a:blip>
          <a:stretch>
            <a:fillRect/>
          </a:stretch>
        </p:blipFill>
        <p:spPr>
          <a:xfrm>
            <a:off x="397850" y="1533664"/>
            <a:ext cx="2066424" cy="20761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2ef51038f2_1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About Me - Anita (She/Her)</a:t>
            </a:r>
            <a:endParaRPr/>
          </a:p>
        </p:txBody>
      </p:sp>
      <p:pic>
        <p:nvPicPr>
          <p:cNvPr id="100" name="Google Shape;100;g32ef51038f2_1_0"/>
          <p:cNvPicPr preferRelativeResize="0"/>
          <p:nvPr/>
        </p:nvPicPr>
        <p:blipFill>
          <a:blip r:embed="rId3">
            <a:alphaModFix/>
          </a:blip>
          <a:stretch>
            <a:fillRect/>
          </a:stretch>
        </p:blipFill>
        <p:spPr>
          <a:xfrm>
            <a:off x="540300" y="1542647"/>
            <a:ext cx="1945276" cy="1945276"/>
          </a:xfrm>
          <a:prstGeom prst="rect">
            <a:avLst/>
          </a:prstGeom>
          <a:noFill/>
          <a:ln>
            <a:noFill/>
          </a:ln>
        </p:spPr>
      </p:pic>
      <p:sp>
        <p:nvSpPr>
          <p:cNvPr id="101" name="Google Shape;101;g32ef51038f2_1_0"/>
          <p:cNvSpPr txBox="1"/>
          <p:nvPr>
            <p:ph idx="1" type="body"/>
          </p:nvPr>
        </p:nvSpPr>
        <p:spPr>
          <a:xfrm>
            <a:off x="2806425" y="1076275"/>
            <a:ext cx="6337500" cy="40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I’m a senior studying CS. </a:t>
            </a:r>
            <a:endParaRPr/>
          </a:p>
          <a:p>
            <a:pPr indent="0" lvl="0" marL="0" rtl="0" algn="l">
              <a:lnSpc>
                <a:spcPct val="115000"/>
              </a:lnSpc>
              <a:spcBef>
                <a:spcPts val="0"/>
              </a:spcBef>
              <a:spcAft>
                <a:spcPts val="0"/>
              </a:spcAft>
              <a:buSzPts val="2000"/>
              <a:buNone/>
            </a:pPr>
            <a:r>
              <a:t/>
            </a:r>
            <a:endParaRPr/>
          </a:p>
          <a:p>
            <a:pPr indent="0" lvl="0" marL="0" rtl="0" algn="l">
              <a:spcBef>
                <a:spcPts val="0"/>
              </a:spcBef>
              <a:spcAft>
                <a:spcPts val="0"/>
              </a:spcAft>
              <a:buSzPts val="2000"/>
              <a:buNone/>
            </a:pPr>
            <a:r>
              <a:rPr lang="en"/>
              <a:t>I’m from the Bay. I like snowboarding, and learning cybersecurity.</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My office hours (Soda 411):</a:t>
            </a:r>
            <a:endParaRPr/>
          </a:p>
          <a:p>
            <a:pPr indent="-355600" lvl="0" marL="457200" rtl="0" algn="l">
              <a:spcBef>
                <a:spcPts val="0"/>
              </a:spcBef>
              <a:spcAft>
                <a:spcPts val="0"/>
              </a:spcAft>
              <a:buSzPts val="2000"/>
              <a:buChar char="-"/>
            </a:pPr>
            <a:r>
              <a:rPr lang="en"/>
              <a:t>Mon: 12-2 PM</a:t>
            </a:r>
            <a:endParaRPr/>
          </a:p>
          <a:p>
            <a:pPr indent="-355600" lvl="0" marL="457200" rtl="0" algn="l">
              <a:lnSpc>
                <a:spcPct val="115000"/>
              </a:lnSpc>
              <a:spcBef>
                <a:spcPts val="0"/>
              </a:spcBef>
              <a:spcAft>
                <a:spcPts val="0"/>
              </a:spcAft>
              <a:buSzPts val="2000"/>
              <a:buChar char="-"/>
            </a:pPr>
            <a:r>
              <a:rPr lang="en"/>
              <a:t>Wed: 12-1 PM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SzPts val="2000"/>
              <a:buNone/>
            </a:pPr>
            <a:r>
              <a:rPr lang="en"/>
              <a:t>My email: anitading556@berkeley.edu (please include “[CS 168]” in the subject; Edstem is faster though)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28599867c14_0_22"/>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b="1" lang="en" sz="1600"/>
              <a:t>Project 1A: Basic Traceroute</a:t>
            </a:r>
            <a:endParaRPr b="1" sz="1600"/>
          </a:p>
          <a:p>
            <a:pPr indent="-330200" lvl="0" marL="457200" marR="0" rtl="0" algn="l">
              <a:lnSpc>
                <a:spcPct val="115000"/>
              </a:lnSpc>
              <a:spcBef>
                <a:spcPts val="0"/>
              </a:spcBef>
              <a:spcAft>
                <a:spcPts val="0"/>
              </a:spcAft>
              <a:buSzPts val="1600"/>
              <a:buChar char="●"/>
            </a:pPr>
            <a:r>
              <a:rPr lang="en" sz="1600"/>
              <a:t>Deadline: Tuesday </a:t>
            </a:r>
            <a:r>
              <a:rPr lang="en" sz="1600"/>
              <a:t>February 4</a:t>
            </a:r>
            <a:endParaRPr sz="1600"/>
          </a:p>
          <a:p>
            <a:pPr indent="0" lvl="0" marL="0" rtl="0" algn="l">
              <a:lnSpc>
                <a:spcPct val="115000"/>
              </a:lnSpc>
              <a:spcBef>
                <a:spcPts val="0"/>
              </a:spcBef>
              <a:spcAft>
                <a:spcPts val="0"/>
              </a:spcAft>
              <a:buSzPts val="2000"/>
              <a:buNone/>
            </a:pPr>
            <a:r>
              <a:rPr b="1" lang="en" sz="1600"/>
              <a:t>Project 1B: Traceroute Error Handling</a:t>
            </a:r>
            <a:endParaRPr b="1" sz="1600"/>
          </a:p>
          <a:p>
            <a:pPr indent="-330200" lvl="0" marL="457200" marR="0" rtl="0" algn="l">
              <a:lnSpc>
                <a:spcPct val="115000"/>
              </a:lnSpc>
              <a:spcBef>
                <a:spcPts val="0"/>
              </a:spcBef>
              <a:spcAft>
                <a:spcPts val="0"/>
              </a:spcAft>
              <a:buSzPts val="1600"/>
              <a:buChar char="●"/>
            </a:pPr>
            <a:r>
              <a:rPr lang="en" sz="1600"/>
              <a:t>Deadline: Friday </a:t>
            </a:r>
            <a:r>
              <a:rPr lang="en" sz="1600"/>
              <a:t>February</a:t>
            </a:r>
            <a:r>
              <a:rPr lang="en" sz="1600"/>
              <a:t> 14</a:t>
            </a:r>
            <a:endParaRPr sz="1600"/>
          </a:p>
        </p:txBody>
      </p:sp>
      <p:sp>
        <p:nvSpPr>
          <p:cNvPr id="107" name="Google Shape;107;g28599867c14_0_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lang="en" sz="3000"/>
              <a:t>Logistics</a:t>
            </a:r>
            <a:endParaRPr b="0" i="0" sz="3000" u="none" cap="none" strike="noStrike">
              <a:solidFill>
                <a:srgbClr val="0C343D"/>
              </a:solidFill>
              <a:latin typeface="Francois One"/>
              <a:ea typeface="Francois One"/>
              <a:cs typeface="Francois One"/>
              <a:sym typeface="Francois On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8599867c14_0_27"/>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C343D"/>
              </a:buClr>
              <a:buSzPts val="3600"/>
              <a:buFont typeface="Francois One"/>
              <a:buNone/>
            </a:pPr>
            <a:r>
              <a:rPr lang="en"/>
              <a:t>Terms</a:t>
            </a:r>
            <a:endParaRPr b="0" i="0" sz="3600" u="none" cap="none" strike="noStrike">
              <a:solidFill>
                <a:srgbClr val="0C343D"/>
              </a:solidFill>
              <a:latin typeface="Francois One"/>
              <a:ea typeface="Francois One"/>
              <a:cs typeface="Francois One"/>
              <a:sym typeface="Francois On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8599867c14_0_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Terms</a:t>
            </a:r>
            <a:endParaRPr b="0" i="0" sz="3000" u="none" cap="none" strike="noStrike">
              <a:solidFill>
                <a:srgbClr val="0C343D"/>
              </a:solidFill>
              <a:latin typeface="Francois One"/>
              <a:ea typeface="Francois One"/>
              <a:cs typeface="Francois One"/>
              <a:sym typeface="Francois One"/>
            </a:endParaRPr>
          </a:p>
        </p:txBody>
      </p:sp>
      <p:sp>
        <p:nvSpPr>
          <p:cNvPr id="118" name="Google Shape;118;g28599867c14_0_31"/>
          <p:cNvSpPr txBox="1"/>
          <p:nvPr>
            <p:ph idx="1" type="body"/>
          </p:nvPr>
        </p:nvSpPr>
        <p:spPr>
          <a:xfrm>
            <a:off x="311700" y="1000075"/>
            <a:ext cx="85206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600"/>
              </a:spcBef>
              <a:spcAft>
                <a:spcPts val="0"/>
              </a:spcAft>
              <a:buClr>
                <a:srgbClr val="222222"/>
              </a:buClr>
              <a:buSzPts val="1800"/>
              <a:buFont typeface="Arial"/>
              <a:buChar char="●"/>
            </a:pPr>
            <a:r>
              <a:rPr b="1" lang="en" sz="1800">
                <a:solidFill>
                  <a:srgbClr val="222222"/>
                </a:solidFill>
                <a:latin typeface="Arial"/>
                <a:ea typeface="Arial"/>
                <a:cs typeface="Arial"/>
                <a:sym typeface="Arial"/>
              </a:rPr>
              <a:t>Routers/Switches:</a:t>
            </a:r>
            <a:r>
              <a:rPr lang="en" sz="1800">
                <a:solidFill>
                  <a:srgbClr val="222222"/>
                </a:solidFill>
                <a:latin typeface="Arial"/>
                <a:ea typeface="Arial"/>
                <a:cs typeface="Arial"/>
                <a:sym typeface="Arial"/>
              </a:rPr>
              <a:t> Devices that forward packets arriving on one link to another link. We make no distinction between routers/switches at this point</a:t>
            </a:r>
            <a:endParaRPr sz="1800">
              <a:solidFill>
                <a:srgbClr val="222222"/>
              </a:solidFill>
              <a:latin typeface="Arial"/>
              <a:ea typeface="Arial"/>
              <a:cs typeface="Arial"/>
              <a:sym typeface="Arial"/>
            </a:endParaRPr>
          </a:p>
          <a:p>
            <a:pPr indent="0" lvl="0" marL="0" marR="0" rtl="0" algn="l">
              <a:lnSpc>
                <a:spcPct val="100000"/>
              </a:lnSpc>
              <a:spcBef>
                <a:spcPts val="600"/>
              </a:spcBef>
              <a:spcAft>
                <a:spcPts val="0"/>
              </a:spcAft>
              <a:buSzPts val="2000"/>
              <a:buNone/>
            </a:pPr>
            <a:r>
              <a:t/>
            </a:r>
            <a:endParaRPr sz="1800">
              <a:solidFill>
                <a:srgbClr val="222222"/>
              </a:solidFill>
              <a:latin typeface="Arial"/>
              <a:ea typeface="Arial"/>
              <a:cs typeface="Arial"/>
              <a:sym typeface="Arial"/>
            </a:endParaRPr>
          </a:p>
        </p:txBody>
      </p:sp>
      <p:sp>
        <p:nvSpPr>
          <p:cNvPr id="119" name="Google Shape;119;g28599867c14_0_31"/>
          <p:cNvSpPr txBox="1"/>
          <p:nvPr>
            <p:ph idx="1" type="body"/>
          </p:nvPr>
        </p:nvSpPr>
        <p:spPr>
          <a:xfrm>
            <a:off x="311700" y="1685875"/>
            <a:ext cx="34047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600"/>
              </a:spcBef>
              <a:spcAft>
                <a:spcPts val="0"/>
              </a:spcAft>
              <a:buClr>
                <a:srgbClr val="222222"/>
              </a:buClr>
              <a:buSzPts val="1800"/>
              <a:buFont typeface="Arial"/>
              <a:buChar char="●"/>
            </a:pPr>
            <a:r>
              <a:rPr b="1" lang="en" sz="1800">
                <a:solidFill>
                  <a:srgbClr val="222222"/>
                </a:solidFill>
                <a:latin typeface="Arial"/>
                <a:ea typeface="Arial"/>
                <a:cs typeface="Arial"/>
                <a:sym typeface="Arial"/>
              </a:rPr>
              <a:t>End-host:</a:t>
            </a:r>
            <a:r>
              <a:rPr lang="en" sz="1800">
                <a:solidFill>
                  <a:srgbClr val="222222"/>
                </a:solidFill>
                <a:latin typeface="Arial"/>
                <a:ea typeface="Arial"/>
                <a:cs typeface="Arial"/>
                <a:sym typeface="Arial"/>
              </a:rPr>
              <a:t> a device attached to the network that sends or receives packets.</a:t>
            </a:r>
            <a:endParaRPr sz="1800">
              <a:solidFill>
                <a:srgbClr val="222222"/>
              </a:solidFill>
              <a:latin typeface="Arial"/>
              <a:ea typeface="Arial"/>
              <a:cs typeface="Arial"/>
              <a:sym typeface="Arial"/>
            </a:endParaRPr>
          </a:p>
          <a:p>
            <a:pPr indent="-342900" lvl="0" marL="914400" marR="0" rtl="0" algn="l">
              <a:lnSpc>
                <a:spcPct val="100000"/>
              </a:lnSpc>
              <a:spcBef>
                <a:spcPts val="0"/>
              </a:spcBef>
              <a:spcAft>
                <a:spcPts val="0"/>
              </a:spcAft>
              <a:buClr>
                <a:srgbClr val="222222"/>
              </a:buClr>
              <a:buSzPts val="1800"/>
              <a:buFont typeface="Arial"/>
              <a:buChar char="-"/>
            </a:pPr>
            <a:r>
              <a:rPr lang="en" sz="1800">
                <a:solidFill>
                  <a:srgbClr val="222222"/>
                </a:solidFill>
                <a:latin typeface="Arial"/>
                <a:ea typeface="Arial"/>
                <a:cs typeface="Arial"/>
                <a:sym typeface="Arial"/>
              </a:rPr>
              <a:t>Examples: mobile phone, laptop,    security camera, smart fridge</a:t>
            </a:r>
            <a:endParaRPr sz="1800">
              <a:solidFill>
                <a:srgbClr val="222222"/>
              </a:solidFill>
              <a:latin typeface="Arial"/>
              <a:ea typeface="Arial"/>
              <a:cs typeface="Arial"/>
              <a:sym typeface="Arial"/>
            </a:endParaRPr>
          </a:p>
          <a:p>
            <a:pPr indent="0" lvl="0" marL="0" marR="0" rtl="0" algn="l">
              <a:lnSpc>
                <a:spcPct val="100000"/>
              </a:lnSpc>
              <a:spcBef>
                <a:spcPts val="600"/>
              </a:spcBef>
              <a:spcAft>
                <a:spcPts val="0"/>
              </a:spcAft>
              <a:buSzPts val="2000"/>
              <a:buNone/>
            </a:pPr>
            <a:r>
              <a:t/>
            </a:r>
            <a:endParaRPr sz="1800">
              <a:solidFill>
                <a:srgbClr val="222222"/>
              </a:solidFill>
              <a:latin typeface="Arial"/>
              <a:ea typeface="Arial"/>
              <a:cs typeface="Arial"/>
              <a:sym typeface="Arial"/>
            </a:endParaRPr>
          </a:p>
        </p:txBody>
      </p:sp>
      <p:pic>
        <p:nvPicPr>
          <p:cNvPr id="120" name="Google Shape;120;g28599867c14_0_31"/>
          <p:cNvPicPr preferRelativeResize="0"/>
          <p:nvPr/>
        </p:nvPicPr>
        <p:blipFill rotWithShape="1">
          <a:blip r:embed="rId3">
            <a:alphaModFix/>
          </a:blip>
          <a:srcRect b="10143" l="0" r="14690" t="11766"/>
          <a:stretch/>
        </p:blipFill>
        <p:spPr>
          <a:xfrm>
            <a:off x="3998600" y="1921850"/>
            <a:ext cx="4010275" cy="2753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8599867c14_0_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Terms</a:t>
            </a:r>
            <a:endParaRPr b="0" i="0" sz="3000" u="none" cap="none" strike="noStrike">
              <a:solidFill>
                <a:srgbClr val="0C343D"/>
              </a:solidFill>
              <a:latin typeface="Francois One"/>
              <a:ea typeface="Francois One"/>
              <a:cs typeface="Francois One"/>
              <a:sym typeface="Francois One"/>
            </a:endParaRPr>
          </a:p>
        </p:txBody>
      </p:sp>
      <p:sp>
        <p:nvSpPr>
          <p:cNvPr id="126" name="Google Shape;126;g28599867c14_0_38"/>
          <p:cNvSpPr txBox="1"/>
          <p:nvPr>
            <p:ph idx="1" type="body"/>
          </p:nvPr>
        </p:nvSpPr>
        <p:spPr>
          <a:xfrm>
            <a:off x="311700" y="1000075"/>
            <a:ext cx="85206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600"/>
              </a:spcBef>
              <a:spcAft>
                <a:spcPts val="0"/>
              </a:spcAft>
              <a:buClr>
                <a:srgbClr val="222222"/>
              </a:buClr>
              <a:buSzPts val="1800"/>
              <a:buFont typeface="Arial"/>
              <a:buChar char="●"/>
            </a:pPr>
            <a:r>
              <a:rPr b="1" lang="en" sz="1800">
                <a:solidFill>
                  <a:srgbClr val="222222"/>
                </a:solidFill>
                <a:latin typeface="Arial"/>
                <a:ea typeface="Arial"/>
                <a:cs typeface="Arial"/>
                <a:sym typeface="Arial"/>
              </a:rPr>
              <a:t>Packets: </a:t>
            </a:r>
            <a:r>
              <a:rPr lang="en" sz="1800">
                <a:solidFill>
                  <a:srgbClr val="222222"/>
                </a:solidFill>
                <a:latin typeface="Arial"/>
                <a:ea typeface="Arial"/>
                <a:cs typeface="Arial"/>
                <a:sym typeface="Arial"/>
              </a:rPr>
              <a:t>A Bags of bits with a </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SzPts val="1800"/>
              <a:buFont typeface="Arial"/>
              <a:buChar char="○"/>
            </a:pPr>
            <a:r>
              <a:rPr i="1" lang="en" sz="1800">
                <a:solidFill>
                  <a:srgbClr val="222222"/>
                </a:solidFill>
                <a:latin typeface="Arial"/>
                <a:ea typeface="Arial"/>
                <a:cs typeface="Arial"/>
                <a:sym typeface="Arial"/>
              </a:rPr>
              <a:t>Header</a:t>
            </a:r>
            <a:r>
              <a:rPr lang="en" sz="1800">
                <a:solidFill>
                  <a:srgbClr val="222222"/>
                </a:solidFill>
                <a:latin typeface="Arial"/>
                <a:ea typeface="Arial"/>
                <a:cs typeface="Arial"/>
                <a:sym typeface="Arial"/>
              </a:rPr>
              <a:t>-- info for network and network stack to make decisions</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SzPts val="1800"/>
              <a:buFont typeface="Arial"/>
              <a:buChar char="○"/>
            </a:pPr>
            <a:r>
              <a:rPr i="1" lang="en" sz="1800">
                <a:solidFill>
                  <a:srgbClr val="222222"/>
                </a:solidFill>
                <a:latin typeface="Arial"/>
                <a:ea typeface="Arial"/>
                <a:cs typeface="Arial"/>
                <a:sym typeface="Arial"/>
              </a:rPr>
              <a:t>Body</a:t>
            </a:r>
            <a:r>
              <a:rPr lang="en" sz="1800">
                <a:solidFill>
                  <a:srgbClr val="222222"/>
                </a:solidFill>
                <a:latin typeface="Arial"/>
                <a:ea typeface="Arial"/>
                <a:cs typeface="Arial"/>
                <a:sym typeface="Arial"/>
              </a:rPr>
              <a:t>-- contains a payload. Ex. A file, image, an application header</a:t>
            </a:r>
            <a:endParaRPr sz="1800">
              <a:solidFill>
                <a:srgbClr val="222222"/>
              </a:solidFill>
              <a:latin typeface="Arial"/>
              <a:ea typeface="Arial"/>
              <a:cs typeface="Arial"/>
              <a:sym typeface="Arial"/>
            </a:endParaRPr>
          </a:p>
          <a:p>
            <a:pPr indent="-342900" lvl="2" marL="1371600" marR="0" rtl="0" algn="l">
              <a:lnSpc>
                <a:spcPct val="100000"/>
              </a:lnSpc>
              <a:spcBef>
                <a:spcPts val="0"/>
              </a:spcBef>
              <a:spcAft>
                <a:spcPts val="0"/>
              </a:spcAft>
              <a:buClr>
                <a:srgbClr val="222222"/>
              </a:buClr>
              <a:buSzPts val="1800"/>
              <a:buFont typeface="Arial"/>
              <a:buChar char="■"/>
            </a:pPr>
            <a:r>
              <a:rPr lang="en" sz="1800">
                <a:solidFill>
                  <a:srgbClr val="222222"/>
                </a:solidFill>
                <a:latin typeface="Arial"/>
                <a:ea typeface="Arial"/>
                <a:cs typeface="Arial"/>
                <a:sym typeface="Arial"/>
              </a:rPr>
              <a:t>The network doesn’t really care about what’s in the payload. </a:t>
            </a:r>
            <a:endParaRPr sz="1800">
              <a:solidFill>
                <a:srgbClr val="222222"/>
              </a:solidFill>
              <a:latin typeface="Arial"/>
              <a:ea typeface="Arial"/>
              <a:cs typeface="Arial"/>
              <a:sym typeface="Arial"/>
            </a:endParaRPr>
          </a:p>
        </p:txBody>
      </p:sp>
      <p:grpSp>
        <p:nvGrpSpPr>
          <p:cNvPr id="127" name="Google Shape;127;g28599867c14_0_38"/>
          <p:cNvGrpSpPr/>
          <p:nvPr/>
        </p:nvGrpSpPr>
        <p:grpSpPr>
          <a:xfrm>
            <a:off x="1583875" y="3703175"/>
            <a:ext cx="5388300" cy="632700"/>
            <a:chOff x="2041075" y="3398375"/>
            <a:chExt cx="5388300" cy="632700"/>
          </a:xfrm>
        </p:grpSpPr>
        <p:sp>
          <p:nvSpPr>
            <p:cNvPr id="128" name="Google Shape;128;g28599867c14_0_38"/>
            <p:cNvSpPr/>
            <p:nvPr/>
          </p:nvSpPr>
          <p:spPr>
            <a:xfrm>
              <a:off x="2041075" y="3398375"/>
              <a:ext cx="3980100" cy="632700"/>
            </a:xfrm>
            <a:prstGeom prst="rect">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 name="Google Shape;129;g28599867c14_0_38"/>
            <p:cNvSpPr/>
            <p:nvPr/>
          </p:nvSpPr>
          <p:spPr>
            <a:xfrm>
              <a:off x="6021175" y="3398375"/>
              <a:ext cx="1408200" cy="632700"/>
            </a:xfrm>
            <a:prstGeom prst="rect">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Arial"/>
                  <a:ea typeface="Arial"/>
                  <a:cs typeface="Arial"/>
                  <a:sym typeface="Arial"/>
                </a:rPr>
                <a:t>Header</a:t>
              </a:r>
              <a:endParaRPr b="0" i="0" sz="2200" u="none" cap="none" strike="noStrike">
                <a:solidFill>
                  <a:srgbClr val="000000"/>
                </a:solidFill>
                <a:latin typeface="Arial"/>
                <a:ea typeface="Arial"/>
                <a:cs typeface="Arial"/>
                <a:sym typeface="Arial"/>
              </a:endParaRPr>
            </a:p>
          </p:txBody>
        </p:sp>
      </p:grpSp>
      <p:sp>
        <p:nvSpPr>
          <p:cNvPr id="130" name="Google Shape;130;g28599867c14_0_38"/>
          <p:cNvSpPr txBox="1"/>
          <p:nvPr/>
        </p:nvSpPr>
        <p:spPr>
          <a:xfrm>
            <a:off x="3328525" y="2779500"/>
            <a:ext cx="11112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“Go Bears”</a:t>
            </a:r>
            <a:endParaRPr b="0" i="0" sz="1600" u="none" cap="none" strike="noStrike">
              <a:solidFill>
                <a:srgbClr val="000000"/>
              </a:solidFill>
              <a:latin typeface="Arial"/>
              <a:ea typeface="Arial"/>
              <a:cs typeface="Arial"/>
              <a:sym typeface="Arial"/>
            </a:endParaRPr>
          </a:p>
        </p:txBody>
      </p:sp>
      <p:cxnSp>
        <p:nvCxnSpPr>
          <p:cNvPr id="131" name="Google Shape;131;g28599867c14_0_38"/>
          <p:cNvCxnSpPr>
            <a:stCxn id="130" idx="2"/>
          </p:cNvCxnSpPr>
          <p:nvPr/>
        </p:nvCxnSpPr>
        <p:spPr>
          <a:xfrm>
            <a:off x="3884125" y="3456600"/>
            <a:ext cx="0" cy="325500"/>
          </a:xfrm>
          <a:prstGeom prst="straightConnector1">
            <a:avLst/>
          </a:prstGeom>
          <a:noFill/>
          <a:ln cap="flat" cmpd="sng" w="19050">
            <a:solidFill>
              <a:schemeClr val="dk2"/>
            </a:solidFill>
            <a:prstDash val="solid"/>
            <a:round/>
            <a:headEnd len="sm" w="sm" type="none"/>
            <a:tailEnd len="med" w="med" type="triangle"/>
          </a:ln>
        </p:spPr>
      </p:cxnSp>
      <p:sp>
        <p:nvSpPr>
          <p:cNvPr id="132" name="Google Shape;132;g28599867c14_0_38"/>
          <p:cNvSpPr txBox="1"/>
          <p:nvPr/>
        </p:nvSpPr>
        <p:spPr>
          <a:xfrm>
            <a:off x="2988625" y="3757175"/>
            <a:ext cx="17910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Arial"/>
                <a:ea typeface="Arial"/>
                <a:cs typeface="Arial"/>
                <a:sym typeface="Arial"/>
              </a:rPr>
              <a:t>Body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8599867c14_0_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Terms</a:t>
            </a:r>
            <a:endParaRPr b="0" i="0" sz="3000" u="none" cap="none" strike="noStrike">
              <a:solidFill>
                <a:srgbClr val="0C343D"/>
              </a:solidFill>
              <a:latin typeface="Francois One"/>
              <a:ea typeface="Francois One"/>
              <a:cs typeface="Francois One"/>
              <a:sym typeface="Francois One"/>
            </a:endParaRPr>
          </a:p>
        </p:txBody>
      </p:sp>
      <p:sp>
        <p:nvSpPr>
          <p:cNvPr id="138" name="Google Shape;138;g28599867c14_0_49"/>
          <p:cNvSpPr txBox="1"/>
          <p:nvPr>
            <p:ph idx="1" type="body"/>
          </p:nvPr>
        </p:nvSpPr>
        <p:spPr>
          <a:xfrm>
            <a:off x="311700" y="1000075"/>
            <a:ext cx="85206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600"/>
              </a:spcBef>
              <a:spcAft>
                <a:spcPts val="0"/>
              </a:spcAft>
              <a:buClr>
                <a:srgbClr val="0C343D"/>
              </a:buClr>
              <a:buSzPts val="1800"/>
              <a:buFont typeface="Arial"/>
              <a:buChar char="●"/>
            </a:pPr>
            <a:r>
              <a:rPr b="1" lang="en" sz="1800">
                <a:solidFill>
                  <a:srgbClr val="222222"/>
                </a:solidFill>
                <a:latin typeface="Arial"/>
                <a:ea typeface="Arial"/>
                <a:cs typeface="Arial"/>
                <a:sym typeface="Arial"/>
              </a:rPr>
              <a:t>Naming:</a:t>
            </a:r>
            <a:endParaRPr b="1" sz="1800">
              <a:solidFill>
                <a:srgbClr val="222222"/>
              </a:solidFill>
              <a:latin typeface="Arial"/>
              <a:ea typeface="Arial"/>
              <a:cs typeface="Arial"/>
              <a:sym typeface="Arial"/>
            </a:endParaRPr>
          </a:p>
          <a:p>
            <a:pPr indent="-342900" lvl="1" marL="914400" rtl="0" algn="l">
              <a:lnSpc>
                <a:spcPct val="100000"/>
              </a:lnSpc>
              <a:spcBef>
                <a:spcPts val="0"/>
              </a:spcBef>
              <a:spcAft>
                <a:spcPts val="0"/>
              </a:spcAft>
              <a:buSzPts val="1800"/>
              <a:buFont typeface="Arial"/>
              <a:buChar char="○"/>
            </a:pPr>
            <a:r>
              <a:rPr lang="en" sz="1800">
                <a:solidFill>
                  <a:srgbClr val="222222"/>
                </a:solidFill>
                <a:latin typeface="Arial"/>
                <a:ea typeface="Arial"/>
                <a:cs typeface="Arial"/>
                <a:sym typeface="Arial"/>
              </a:rPr>
              <a:t>Network name: which host it is</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SzPts val="1800"/>
              <a:buFont typeface="Arial"/>
              <a:buChar char="○"/>
            </a:pPr>
            <a:r>
              <a:rPr lang="en" sz="1800">
                <a:solidFill>
                  <a:srgbClr val="222222"/>
                </a:solidFill>
                <a:latin typeface="Arial"/>
                <a:ea typeface="Arial"/>
                <a:cs typeface="Arial"/>
                <a:sym typeface="Arial"/>
              </a:rPr>
              <a:t>Network address: where host is located</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SzPts val="1800"/>
              <a:buFont typeface="Arial"/>
              <a:buChar char="○"/>
            </a:pPr>
            <a:r>
              <a:rPr lang="en" sz="1800">
                <a:solidFill>
                  <a:srgbClr val="222222"/>
                </a:solidFill>
                <a:latin typeface="Arial"/>
                <a:ea typeface="Arial"/>
                <a:cs typeface="Arial"/>
                <a:sym typeface="Arial"/>
              </a:rPr>
              <a:t>When you move a server to a new building, its name does not change but its address does</a:t>
            </a:r>
            <a:endParaRPr sz="1800">
              <a:solidFill>
                <a:srgbClr val="222222"/>
              </a:solidFill>
              <a:latin typeface="Arial"/>
              <a:ea typeface="Arial"/>
              <a:cs typeface="Arial"/>
              <a:sym typeface="Arial"/>
            </a:endParaRPr>
          </a:p>
        </p:txBody>
      </p:sp>
      <p:sp>
        <p:nvSpPr>
          <p:cNvPr id="139" name="Google Shape;139;g28599867c14_0_49"/>
          <p:cNvSpPr/>
          <p:nvPr/>
        </p:nvSpPr>
        <p:spPr>
          <a:xfrm>
            <a:off x="490225" y="2811325"/>
            <a:ext cx="890700" cy="8907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28599867c14_0_49"/>
          <p:cNvSpPr/>
          <p:nvPr/>
        </p:nvSpPr>
        <p:spPr>
          <a:xfrm>
            <a:off x="490225" y="3907975"/>
            <a:ext cx="890700" cy="8907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28599867c14_0_49"/>
          <p:cNvSpPr/>
          <p:nvPr/>
        </p:nvSpPr>
        <p:spPr>
          <a:xfrm>
            <a:off x="2109600" y="3414575"/>
            <a:ext cx="421500" cy="42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2" name="Google Shape;142;g28599867c14_0_49"/>
          <p:cNvCxnSpPr>
            <a:stCxn id="139" idx="6"/>
            <a:endCxn id="141" idx="1"/>
          </p:cNvCxnSpPr>
          <p:nvPr/>
        </p:nvCxnSpPr>
        <p:spPr>
          <a:xfrm>
            <a:off x="1380925" y="3256675"/>
            <a:ext cx="728700" cy="368700"/>
          </a:xfrm>
          <a:prstGeom prst="straightConnector1">
            <a:avLst/>
          </a:prstGeom>
          <a:noFill/>
          <a:ln cap="flat" cmpd="sng" w="9525">
            <a:solidFill>
              <a:schemeClr val="dk2"/>
            </a:solidFill>
            <a:prstDash val="solid"/>
            <a:round/>
            <a:headEnd len="sm" w="sm" type="none"/>
            <a:tailEnd len="sm" w="sm" type="none"/>
          </a:ln>
        </p:spPr>
      </p:cxnSp>
      <p:cxnSp>
        <p:nvCxnSpPr>
          <p:cNvPr id="143" name="Google Shape;143;g28599867c14_0_49"/>
          <p:cNvCxnSpPr>
            <a:stCxn id="140" idx="6"/>
            <a:endCxn id="141" idx="1"/>
          </p:cNvCxnSpPr>
          <p:nvPr/>
        </p:nvCxnSpPr>
        <p:spPr>
          <a:xfrm flipH="1" rot="10800000">
            <a:off x="1380925" y="3625225"/>
            <a:ext cx="728700" cy="728100"/>
          </a:xfrm>
          <a:prstGeom prst="straightConnector1">
            <a:avLst/>
          </a:prstGeom>
          <a:noFill/>
          <a:ln cap="flat" cmpd="sng" w="9525">
            <a:solidFill>
              <a:schemeClr val="dk2"/>
            </a:solidFill>
            <a:prstDash val="solid"/>
            <a:round/>
            <a:headEnd len="sm" w="sm" type="none"/>
            <a:tailEnd len="sm" w="sm" type="none"/>
          </a:ln>
        </p:spPr>
      </p:cxnSp>
      <p:sp>
        <p:nvSpPr>
          <p:cNvPr id="144" name="Google Shape;144;g28599867c14_0_49"/>
          <p:cNvSpPr/>
          <p:nvPr/>
        </p:nvSpPr>
        <p:spPr>
          <a:xfrm>
            <a:off x="2809525" y="4205825"/>
            <a:ext cx="421500" cy="42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 name="Google Shape;145;g28599867c14_0_49"/>
          <p:cNvCxnSpPr>
            <a:stCxn id="141" idx="3"/>
            <a:endCxn id="144" idx="1"/>
          </p:cNvCxnSpPr>
          <p:nvPr/>
        </p:nvCxnSpPr>
        <p:spPr>
          <a:xfrm>
            <a:off x="2531100" y="3625325"/>
            <a:ext cx="278400" cy="791400"/>
          </a:xfrm>
          <a:prstGeom prst="straightConnector1">
            <a:avLst/>
          </a:prstGeom>
          <a:noFill/>
          <a:ln cap="flat" cmpd="sng" w="9525">
            <a:solidFill>
              <a:schemeClr val="dk2"/>
            </a:solidFill>
            <a:prstDash val="solid"/>
            <a:round/>
            <a:headEnd len="sm" w="sm" type="none"/>
            <a:tailEnd len="sm" w="sm" type="none"/>
          </a:ln>
        </p:spPr>
      </p:cxnSp>
      <p:cxnSp>
        <p:nvCxnSpPr>
          <p:cNvPr id="146" name="Google Shape;146;g28599867c14_0_49"/>
          <p:cNvCxnSpPr>
            <a:stCxn id="144" idx="2"/>
          </p:cNvCxnSpPr>
          <p:nvPr/>
        </p:nvCxnSpPr>
        <p:spPr>
          <a:xfrm flipH="1">
            <a:off x="2638075" y="4627325"/>
            <a:ext cx="382200" cy="861900"/>
          </a:xfrm>
          <a:prstGeom prst="straightConnector1">
            <a:avLst/>
          </a:prstGeom>
          <a:noFill/>
          <a:ln cap="flat" cmpd="sng" w="9525">
            <a:solidFill>
              <a:schemeClr val="dk2"/>
            </a:solidFill>
            <a:prstDash val="solid"/>
            <a:round/>
            <a:headEnd len="sm" w="sm" type="none"/>
            <a:tailEnd len="sm" w="sm" type="none"/>
          </a:ln>
        </p:spPr>
      </p:cxnSp>
      <p:cxnSp>
        <p:nvCxnSpPr>
          <p:cNvPr id="147" name="Google Shape;147;g28599867c14_0_49"/>
          <p:cNvCxnSpPr/>
          <p:nvPr/>
        </p:nvCxnSpPr>
        <p:spPr>
          <a:xfrm rot="10800000">
            <a:off x="3020275" y="4627325"/>
            <a:ext cx="382200" cy="861900"/>
          </a:xfrm>
          <a:prstGeom prst="straightConnector1">
            <a:avLst/>
          </a:prstGeom>
          <a:noFill/>
          <a:ln cap="flat" cmpd="sng" w="9525">
            <a:solidFill>
              <a:schemeClr val="dk2"/>
            </a:solidFill>
            <a:prstDash val="solid"/>
            <a:round/>
            <a:headEnd len="sm" w="sm" type="none"/>
            <a:tailEnd len="sm" w="sm" type="none"/>
          </a:ln>
        </p:spPr>
      </p:cxnSp>
      <p:sp>
        <p:nvSpPr>
          <p:cNvPr id="148" name="Google Shape;148;g28599867c14_0_49"/>
          <p:cNvSpPr txBox="1"/>
          <p:nvPr/>
        </p:nvSpPr>
        <p:spPr>
          <a:xfrm>
            <a:off x="50925" y="2868800"/>
            <a:ext cx="2095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Name: mywebsite.com</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Addr: 142.250.72.206</a:t>
            </a:r>
            <a:endParaRPr b="1" i="0" sz="1400" u="none" cap="none" strike="noStrike">
              <a:solidFill>
                <a:srgbClr val="000000"/>
              </a:solidFill>
              <a:latin typeface="Arial"/>
              <a:ea typeface="Arial"/>
              <a:cs typeface="Arial"/>
              <a:sym typeface="Arial"/>
            </a:endParaRPr>
          </a:p>
        </p:txBody>
      </p:sp>
      <p:sp>
        <p:nvSpPr>
          <p:cNvPr id="149" name="Google Shape;149;g28599867c14_0_49"/>
          <p:cNvSpPr/>
          <p:nvPr/>
        </p:nvSpPr>
        <p:spPr>
          <a:xfrm>
            <a:off x="5290825" y="2811325"/>
            <a:ext cx="890700" cy="8907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28599867c14_0_49"/>
          <p:cNvSpPr/>
          <p:nvPr/>
        </p:nvSpPr>
        <p:spPr>
          <a:xfrm>
            <a:off x="5290825" y="3907975"/>
            <a:ext cx="890700" cy="890700"/>
          </a:xfrm>
          <a:prstGeom prst="ellipse">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28599867c14_0_49"/>
          <p:cNvSpPr/>
          <p:nvPr/>
        </p:nvSpPr>
        <p:spPr>
          <a:xfrm>
            <a:off x="6910200" y="3414575"/>
            <a:ext cx="421500" cy="42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2" name="Google Shape;152;g28599867c14_0_49"/>
          <p:cNvCxnSpPr>
            <a:stCxn id="149" idx="6"/>
            <a:endCxn id="151" idx="1"/>
          </p:cNvCxnSpPr>
          <p:nvPr/>
        </p:nvCxnSpPr>
        <p:spPr>
          <a:xfrm>
            <a:off x="6181525" y="3256675"/>
            <a:ext cx="728700" cy="368700"/>
          </a:xfrm>
          <a:prstGeom prst="straightConnector1">
            <a:avLst/>
          </a:prstGeom>
          <a:noFill/>
          <a:ln cap="flat" cmpd="sng" w="9525">
            <a:solidFill>
              <a:schemeClr val="dk2"/>
            </a:solidFill>
            <a:prstDash val="solid"/>
            <a:round/>
            <a:headEnd len="sm" w="sm" type="none"/>
            <a:tailEnd len="sm" w="sm" type="none"/>
          </a:ln>
        </p:spPr>
      </p:cxnSp>
      <p:cxnSp>
        <p:nvCxnSpPr>
          <p:cNvPr id="153" name="Google Shape;153;g28599867c14_0_49"/>
          <p:cNvCxnSpPr>
            <a:stCxn id="150" idx="6"/>
            <a:endCxn id="151" idx="1"/>
          </p:cNvCxnSpPr>
          <p:nvPr/>
        </p:nvCxnSpPr>
        <p:spPr>
          <a:xfrm flipH="1" rot="10800000">
            <a:off x="6181525" y="3625225"/>
            <a:ext cx="728700" cy="728100"/>
          </a:xfrm>
          <a:prstGeom prst="straightConnector1">
            <a:avLst/>
          </a:prstGeom>
          <a:noFill/>
          <a:ln cap="flat" cmpd="sng" w="9525">
            <a:solidFill>
              <a:schemeClr val="dk2"/>
            </a:solidFill>
            <a:prstDash val="solid"/>
            <a:round/>
            <a:headEnd len="sm" w="sm" type="none"/>
            <a:tailEnd len="sm" w="sm" type="none"/>
          </a:ln>
        </p:spPr>
      </p:cxnSp>
      <p:sp>
        <p:nvSpPr>
          <p:cNvPr id="154" name="Google Shape;154;g28599867c14_0_49"/>
          <p:cNvSpPr/>
          <p:nvPr/>
        </p:nvSpPr>
        <p:spPr>
          <a:xfrm>
            <a:off x="7610125" y="4205825"/>
            <a:ext cx="421500" cy="421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5" name="Google Shape;155;g28599867c14_0_49"/>
          <p:cNvCxnSpPr>
            <a:stCxn id="151" idx="3"/>
            <a:endCxn id="154" idx="1"/>
          </p:cNvCxnSpPr>
          <p:nvPr/>
        </p:nvCxnSpPr>
        <p:spPr>
          <a:xfrm>
            <a:off x="7331700" y="3625325"/>
            <a:ext cx="278400" cy="791400"/>
          </a:xfrm>
          <a:prstGeom prst="straightConnector1">
            <a:avLst/>
          </a:prstGeom>
          <a:noFill/>
          <a:ln cap="flat" cmpd="sng" w="9525">
            <a:solidFill>
              <a:schemeClr val="dk2"/>
            </a:solidFill>
            <a:prstDash val="solid"/>
            <a:round/>
            <a:headEnd len="sm" w="sm" type="none"/>
            <a:tailEnd len="sm" w="sm" type="none"/>
          </a:ln>
        </p:spPr>
      </p:cxnSp>
      <p:cxnSp>
        <p:nvCxnSpPr>
          <p:cNvPr id="156" name="Google Shape;156;g28599867c14_0_49"/>
          <p:cNvCxnSpPr>
            <a:stCxn id="154" idx="2"/>
          </p:cNvCxnSpPr>
          <p:nvPr/>
        </p:nvCxnSpPr>
        <p:spPr>
          <a:xfrm flipH="1">
            <a:off x="7438675" y="4627325"/>
            <a:ext cx="382200" cy="861900"/>
          </a:xfrm>
          <a:prstGeom prst="straightConnector1">
            <a:avLst/>
          </a:prstGeom>
          <a:noFill/>
          <a:ln cap="flat" cmpd="sng" w="9525">
            <a:solidFill>
              <a:schemeClr val="dk2"/>
            </a:solidFill>
            <a:prstDash val="solid"/>
            <a:round/>
            <a:headEnd len="sm" w="sm" type="none"/>
            <a:tailEnd len="sm" w="sm" type="none"/>
          </a:ln>
        </p:spPr>
      </p:cxnSp>
      <p:cxnSp>
        <p:nvCxnSpPr>
          <p:cNvPr id="157" name="Google Shape;157;g28599867c14_0_49"/>
          <p:cNvCxnSpPr/>
          <p:nvPr/>
        </p:nvCxnSpPr>
        <p:spPr>
          <a:xfrm rot="10800000">
            <a:off x="7820875" y="4627325"/>
            <a:ext cx="382200" cy="861900"/>
          </a:xfrm>
          <a:prstGeom prst="straightConnector1">
            <a:avLst/>
          </a:prstGeom>
          <a:noFill/>
          <a:ln cap="flat" cmpd="sng" w="9525">
            <a:solidFill>
              <a:schemeClr val="dk2"/>
            </a:solidFill>
            <a:prstDash val="solid"/>
            <a:round/>
            <a:headEnd len="sm" w="sm" type="none"/>
            <a:tailEnd len="sm" w="sm" type="none"/>
          </a:ln>
        </p:spPr>
      </p:cxnSp>
      <p:sp>
        <p:nvSpPr>
          <p:cNvPr id="158" name="Google Shape;158;g28599867c14_0_49"/>
          <p:cNvSpPr txBox="1"/>
          <p:nvPr/>
        </p:nvSpPr>
        <p:spPr>
          <a:xfrm>
            <a:off x="4825300" y="3935600"/>
            <a:ext cx="20307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Name: mywebsite.com</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Addr: 208.117.236.69</a:t>
            </a:r>
            <a:endParaRPr b="1" i="0" sz="1400" u="none" cap="none" strike="noStrike">
              <a:solidFill>
                <a:srgbClr val="000000"/>
              </a:solidFill>
              <a:latin typeface="Arial"/>
              <a:ea typeface="Arial"/>
              <a:cs typeface="Arial"/>
              <a:sym typeface="Arial"/>
            </a:endParaRPr>
          </a:p>
        </p:txBody>
      </p:sp>
      <p:cxnSp>
        <p:nvCxnSpPr>
          <p:cNvPr id="159" name="Google Shape;159;g28599867c14_0_49"/>
          <p:cNvCxnSpPr/>
          <p:nvPr/>
        </p:nvCxnSpPr>
        <p:spPr>
          <a:xfrm>
            <a:off x="3620150" y="3860025"/>
            <a:ext cx="1015200" cy="0"/>
          </a:xfrm>
          <a:prstGeom prst="straightConnector1">
            <a:avLst/>
          </a:prstGeom>
          <a:noFill/>
          <a:ln cap="flat" cmpd="sng" w="38100">
            <a:solidFill>
              <a:schemeClr val="dk2"/>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8599867c14_0_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Terms</a:t>
            </a:r>
            <a:endParaRPr b="0" i="0" sz="3000" u="none" cap="none" strike="noStrike">
              <a:solidFill>
                <a:srgbClr val="0C343D"/>
              </a:solidFill>
              <a:latin typeface="Francois One"/>
              <a:ea typeface="Francois One"/>
              <a:cs typeface="Francois One"/>
              <a:sym typeface="Francois One"/>
            </a:endParaRPr>
          </a:p>
        </p:txBody>
      </p:sp>
      <p:sp>
        <p:nvSpPr>
          <p:cNvPr id="165" name="Google Shape;165;g28599867c14_0_75"/>
          <p:cNvSpPr txBox="1"/>
          <p:nvPr>
            <p:ph idx="1" type="body"/>
          </p:nvPr>
        </p:nvSpPr>
        <p:spPr>
          <a:xfrm>
            <a:off x="311700" y="10000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600"/>
              </a:spcBef>
              <a:spcAft>
                <a:spcPts val="0"/>
              </a:spcAft>
              <a:buClr>
                <a:srgbClr val="0C343D"/>
              </a:buClr>
              <a:buSzPts val="1800"/>
              <a:buFont typeface="Arial"/>
              <a:buChar char="●"/>
            </a:pPr>
            <a:r>
              <a:rPr b="1" lang="en" sz="1800">
                <a:solidFill>
                  <a:srgbClr val="222222"/>
                </a:solidFill>
                <a:latin typeface="Arial"/>
                <a:ea typeface="Arial"/>
                <a:cs typeface="Arial"/>
                <a:sym typeface="Arial"/>
              </a:rPr>
              <a:t>Network “Stack”: </a:t>
            </a:r>
            <a:r>
              <a:rPr lang="en" sz="1800">
                <a:solidFill>
                  <a:srgbClr val="222222"/>
                </a:solidFill>
                <a:latin typeface="Arial"/>
                <a:ea typeface="Arial"/>
                <a:cs typeface="Arial"/>
                <a:sym typeface="Arial"/>
              </a:rPr>
              <a:t> Networking </a:t>
            </a:r>
            <a:r>
              <a:rPr lang="en" sz="1800">
                <a:solidFill>
                  <a:srgbClr val="222222"/>
                </a:solidFill>
              </a:rPr>
              <a:t>Software</a:t>
            </a:r>
            <a:r>
              <a:rPr lang="en" sz="1800">
                <a:solidFill>
                  <a:srgbClr val="222222"/>
                </a:solidFill>
                <a:latin typeface="Arial"/>
                <a:ea typeface="Arial"/>
                <a:cs typeface="Arial"/>
                <a:sym typeface="Arial"/>
              </a:rPr>
              <a:t> on host.</a:t>
            </a:r>
            <a:endParaRPr sz="1800">
              <a:solidFill>
                <a:srgbClr val="222222"/>
              </a:solidFill>
              <a:latin typeface="Arial"/>
              <a:ea typeface="Arial"/>
              <a:cs typeface="Arial"/>
              <a:sym typeface="Arial"/>
            </a:endParaRPr>
          </a:p>
          <a:p>
            <a:pPr indent="-342900" lvl="1" marL="914400" rtl="0" algn="l">
              <a:lnSpc>
                <a:spcPct val="100000"/>
              </a:lnSpc>
              <a:spcBef>
                <a:spcPts val="0"/>
              </a:spcBef>
              <a:spcAft>
                <a:spcPts val="0"/>
              </a:spcAft>
              <a:buSzPts val="1800"/>
              <a:buFont typeface="Arial"/>
              <a:buChar char="○"/>
            </a:pPr>
            <a:r>
              <a:rPr lang="en" sz="1800">
                <a:solidFill>
                  <a:srgbClr val="222222"/>
                </a:solidFill>
                <a:latin typeface="Arial"/>
                <a:ea typeface="Arial"/>
                <a:cs typeface="Arial"/>
                <a:sym typeface="Arial"/>
              </a:rPr>
              <a:t>Replicates some router/switch functionality and adds some additional functionality before passing the body of packets to the application</a:t>
            </a:r>
            <a:endParaRPr sz="1800">
              <a:solidFill>
                <a:srgbClr val="222222"/>
              </a:solidFill>
              <a:latin typeface="Arial"/>
              <a:ea typeface="Arial"/>
              <a:cs typeface="Arial"/>
              <a:sym typeface="Arial"/>
            </a:endParaRPr>
          </a:p>
        </p:txBody>
      </p:sp>
      <p:sp>
        <p:nvSpPr>
          <p:cNvPr id="166" name="Google Shape;166;g28599867c14_0_75"/>
          <p:cNvSpPr/>
          <p:nvPr/>
        </p:nvSpPr>
        <p:spPr>
          <a:xfrm>
            <a:off x="4502600" y="2243825"/>
            <a:ext cx="3934800" cy="267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7" name="Google Shape;167;g28599867c14_0_75"/>
          <p:cNvPicPr preferRelativeResize="0"/>
          <p:nvPr/>
        </p:nvPicPr>
        <p:blipFill rotWithShape="1">
          <a:blip r:embed="rId3">
            <a:alphaModFix/>
          </a:blip>
          <a:srcRect b="40027" l="0" r="68590" t="30843"/>
          <a:stretch/>
        </p:blipFill>
        <p:spPr>
          <a:xfrm>
            <a:off x="477025" y="2772725"/>
            <a:ext cx="2071180" cy="1677101"/>
          </a:xfrm>
          <a:prstGeom prst="rect">
            <a:avLst/>
          </a:prstGeom>
          <a:noFill/>
          <a:ln>
            <a:noFill/>
          </a:ln>
        </p:spPr>
      </p:pic>
      <p:cxnSp>
        <p:nvCxnSpPr>
          <p:cNvPr id="168" name="Google Shape;168;g28599867c14_0_75"/>
          <p:cNvCxnSpPr>
            <a:stCxn id="167" idx="3"/>
          </p:cNvCxnSpPr>
          <p:nvPr/>
        </p:nvCxnSpPr>
        <p:spPr>
          <a:xfrm flipH="1">
            <a:off x="-712195" y="3611275"/>
            <a:ext cx="3260400" cy="1228800"/>
          </a:xfrm>
          <a:prstGeom prst="bentConnector3">
            <a:avLst>
              <a:gd fmla="val -7304" name="adj1"/>
            </a:avLst>
          </a:prstGeom>
          <a:noFill/>
          <a:ln cap="flat" cmpd="sng" w="28575">
            <a:solidFill>
              <a:schemeClr val="lt1"/>
            </a:solidFill>
            <a:prstDash val="solid"/>
            <a:round/>
            <a:headEnd len="sm" w="sm" type="none"/>
            <a:tailEnd len="sm" w="sm" type="none"/>
          </a:ln>
        </p:spPr>
      </p:cxnSp>
      <p:cxnSp>
        <p:nvCxnSpPr>
          <p:cNvPr id="169" name="Google Shape;169;g28599867c14_0_75"/>
          <p:cNvCxnSpPr/>
          <p:nvPr/>
        </p:nvCxnSpPr>
        <p:spPr>
          <a:xfrm flipH="1" rot="10800000">
            <a:off x="2529575" y="2560325"/>
            <a:ext cx="2643300" cy="826500"/>
          </a:xfrm>
          <a:prstGeom prst="straightConnector1">
            <a:avLst/>
          </a:prstGeom>
          <a:noFill/>
          <a:ln cap="flat" cmpd="sng" w="9525">
            <a:solidFill>
              <a:schemeClr val="dk2"/>
            </a:solidFill>
            <a:prstDash val="solid"/>
            <a:round/>
            <a:headEnd len="sm" w="sm" type="none"/>
            <a:tailEnd len="sm" w="sm" type="none"/>
          </a:ln>
        </p:spPr>
      </p:cxnSp>
      <p:cxnSp>
        <p:nvCxnSpPr>
          <p:cNvPr id="170" name="Google Shape;170;g28599867c14_0_75"/>
          <p:cNvCxnSpPr/>
          <p:nvPr/>
        </p:nvCxnSpPr>
        <p:spPr>
          <a:xfrm>
            <a:off x="2529575" y="3866475"/>
            <a:ext cx="2602500" cy="683700"/>
          </a:xfrm>
          <a:prstGeom prst="straightConnector1">
            <a:avLst/>
          </a:prstGeom>
          <a:noFill/>
          <a:ln cap="flat" cmpd="sng" w="9525">
            <a:solidFill>
              <a:schemeClr val="dk2"/>
            </a:solidFill>
            <a:prstDash val="solid"/>
            <a:round/>
            <a:headEnd len="sm" w="sm" type="none"/>
            <a:tailEnd len="sm" w="sm" type="none"/>
          </a:ln>
        </p:spPr>
      </p:cxnSp>
      <p:sp>
        <p:nvSpPr>
          <p:cNvPr id="171" name="Google Shape;171;g28599867c14_0_75"/>
          <p:cNvSpPr/>
          <p:nvPr/>
        </p:nvSpPr>
        <p:spPr>
          <a:xfrm>
            <a:off x="1917250" y="3284775"/>
            <a:ext cx="704100" cy="6837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2" name="Google Shape;172;g28599867c14_0_75"/>
          <p:cNvGrpSpPr/>
          <p:nvPr/>
        </p:nvGrpSpPr>
        <p:grpSpPr>
          <a:xfrm>
            <a:off x="4048450" y="2667350"/>
            <a:ext cx="3934750" cy="2209100"/>
            <a:chOff x="3743650" y="2362550"/>
            <a:chExt cx="3934750" cy="2209100"/>
          </a:xfrm>
        </p:grpSpPr>
        <p:pic>
          <p:nvPicPr>
            <p:cNvPr id="173" name="Google Shape;173;g28599867c14_0_75"/>
            <p:cNvPicPr preferRelativeResize="0"/>
            <p:nvPr/>
          </p:nvPicPr>
          <p:blipFill rotWithShape="1">
            <a:blip r:embed="rId4">
              <a:alphaModFix/>
            </a:blip>
            <a:srcRect b="0" l="0" r="0" t="0"/>
            <a:stretch/>
          </p:blipFill>
          <p:spPr>
            <a:xfrm>
              <a:off x="3743650" y="2362550"/>
              <a:ext cx="3934750" cy="2209100"/>
            </a:xfrm>
            <a:prstGeom prst="rect">
              <a:avLst/>
            </a:prstGeom>
            <a:noFill/>
            <a:ln>
              <a:noFill/>
            </a:ln>
          </p:spPr>
        </p:pic>
        <p:pic>
          <p:nvPicPr>
            <p:cNvPr id="174" name="Google Shape;174;g28599867c14_0_75"/>
            <p:cNvPicPr preferRelativeResize="0"/>
            <p:nvPr/>
          </p:nvPicPr>
          <p:blipFill rotWithShape="1">
            <a:blip r:embed="rId5">
              <a:alphaModFix/>
            </a:blip>
            <a:srcRect b="0" l="0" r="0" t="0"/>
            <a:stretch/>
          </p:blipFill>
          <p:spPr>
            <a:xfrm>
              <a:off x="5461850" y="2510484"/>
              <a:ext cx="683700" cy="6837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8599867c14_0_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Terms (cont</a:t>
            </a:r>
            <a:r>
              <a:rPr lang="en"/>
              <a:t>’d)</a:t>
            </a:r>
            <a:endParaRPr b="0" i="0" sz="3000" u="none" cap="none" strike="noStrike">
              <a:solidFill>
                <a:srgbClr val="0C343D"/>
              </a:solidFill>
              <a:latin typeface="Francois One"/>
              <a:ea typeface="Francois One"/>
              <a:cs typeface="Francois One"/>
              <a:sym typeface="Francois One"/>
            </a:endParaRPr>
          </a:p>
        </p:txBody>
      </p:sp>
      <p:sp>
        <p:nvSpPr>
          <p:cNvPr id="180" name="Google Shape;180;g28599867c14_0_8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600"/>
              </a:spcBef>
              <a:spcAft>
                <a:spcPts val="0"/>
              </a:spcAft>
              <a:buClr>
                <a:srgbClr val="222222"/>
              </a:buClr>
              <a:buSzPts val="1800"/>
              <a:buFont typeface="Arial"/>
              <a:buChar char="●"/>
            </a:pPr>
            <a:r>
              <a:rPr b="1" lang="en" sz="1800">
                <a:solidFill>
                  <a:srgbClr val="222222"/>
                </a:solidFill>
                <a:latin typeface="Arial"/>
                <a:ea typeface="Arial"/>
                <a:cs typeface="Arial"/>
                <a:sym typeface="Arial"/>
              </a:rPr>
              <a:t>ISP (Internet Service Provider): </a:t>
            </a:r>
            <a:r>
              <a:rPr lang="en" sz="1800">
                <a:solidFill>
                  <a:srgbClr val="222222"/>
                </a:solidFill>
                <a:latin typeface="Arial"/>
                <a:ea typeface="Arial"/>
                <a:cs typeface="Arial"/>
                <a:sym typeface="Arial"/>
              </a:rPr>
              <a:t>A network of packet switches and links that provide network access (i.e. Comcast, ATT, Sonic)</a:t>
            </a:r>
            <a:endParaRPr sz="1800">
              <a:solidFill>
                <a:srgbClr val="222222"/>
              </a:solidFill>
              <a:latin typeface="Arial"/>
              <a:ea typeface="Arial"/>
              <a:cs typeface="Arial"/>
              <a:sym typeface="Arial"/>
            </a:endParaRPr>
          </a:p>
          <a:p>
            <a:pPr indent="-342900" lvl="0" marL="457200" marR="0" rtl="0" algn="l">
              <a:lnSpc>
                <a:spcPct val="100000"/>
              </a:lnSpc>
              <a:spcBef>
                <a:spcPts val="0"/>
              </a:spcBef>
              <a:spcAft>
                <a:spcPts val="0"/>
              </a:spcAft>
              <a:buClr>
                <a:srgbClr val="222222"/>
              </a:buClr>
              <a:buSzPts val="1800"/>
              <a:buFont typeface="Arial"/>
              <a:buChar char="●"/>
            </a:pPr>
            <a:r>
              <a:rPr b="1" lang="en" sz="1800">
                <a:solidFill>
                  <a:srgbClr val="222222"/>
                </a:solidFill>
                <a:latin typeface="Arial"/>
                <a:ea typeface="Arial"/>
                <a:cs typeface="Arial"/>
                <a:sym typeface="Arial"/>
              </a:rPr>
              <a:t>ASes (Autonomous Systems):</a:t>
            </a:r>
            <a:r>
              <a:rPr lang="en" sz="1800">
                <a:solidFill>
                  <a:srgbClr val="222222"/>
                </a:solidFill>
                <a:latin typeface="Arial"/>
                <a:ea typeface="Arial"/>
                <a:cs typeface="Arial"/>
                <a:sym typeface="Arial"/>
              </a:rPr>
              <a:t> Groups of routers under the same control</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Clr>
                <a:srgbClr val="222222"/>
              </a:buClr>
              <a:buSzPts val="1800"/>
              <a:buFont typeface="Arial"/>
              <a:buChar char="○"/>
            </a:pPr>
            <a:r>
              <a:rPr lang="en" sz="1800">
                <a:solidFill>
                  <a:srgbClr val="222222"/>
                </a:solidFill>
                <a:latin typeface="Arial"/>
                <a:ea typeface="Arial"/>
                <a:cs typeface="Arial"/>
                <a:sym typeface="Arial"/>
              </a:rPr>
              <a:t>Usually each ISP has one AS, but may have multiple ASes</a:t>
            </a:r>
            <a:endParaRPr sz="1800">
              <a:solidFill>
                <a:srgbClr val="222222"/>
              </a:solidFill>
              <a:latin typeface="Arial"/>
              <a:ea typeface="Arial"/>
              <a:cs typeface="Arial"/>
              <a:sym typeface="Arial"/>
            </a:endParaRPr>
          </a:p>
          <a:p>
            <a:pPr indent="-342900" lvl="1" marL="914400" marR="0" rtl="0" algn="l">
              <a:lnSpc>
                <a:spcPct val="100000"/>
              </a:lnSpc>
              <a:spcBef>
                <a:spcPts val="0"/>
              </a:spcBef>
              <a:spcAft>
                <a:spcPts val="0"/>
              </a:spcAft>
              <a:buClr>
                <a:srgbClr val="222222"/>
              </a:buClr>
              <a:buSzPts val="1800"/>
              <a:buFont typeface="Arial"/>
              <a:buChar char="○"/>
            </a:pPr>
            <a:r>
              <a:rPr lang="en" sz="1800">
                <a:solidFill>
                  <a:srgbClr val="222222"/>
                </a:solidFill>
                <a:latin typeface="Arial"/>
                <a:ea typeface="Arial"/>
                <a:cs typeface="Arial"/>
                <a:sym typeface="Arial"/>
              </a:rPr>
              <a:t>Routers within the same AS will have information about each other</a:t>
            </a:r>
            <a:endParaRPr sz="1800">
              <a:solidFill>
                <a:srgbClr val="222222"/>
              </a:solidFill>
              <a:latin typeface="Arial"/>
              <a:ea typeface="Arial"/>
              <a:cs typeface="Arial"/>
              <a:sym typeface="Arial"/>
            </a:endParaRPr>
          </a:p>
        </p:txBody>
      </p:sp>
      <p:pic>
        <p:nvPicPr>
          <p:cNvPr id="181" name="Google Shape;181;g28599867c14_0_89"/>
          <p:cNvPicPr preferRelativeResize="0"/>
          <p:nvPr/>
        </p:nvPicPr>
        <p:blipFill rotWithShape="1">
          <a:blip r:embed="rId3">
            <a:alphaModFix/>
          </a:blip>
          <a:srcRect b="9790" l="0" r="16000" t="13415"/>
          <a:stretch/>
        </p:blipFill>
        <p:spPr>
          <a:xfrm>
            <a:off x="2135375" y="2760725"/>
            <a:ext cx="3364037" cy="2306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8599867c14_0_95"/>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C343D"/>
              </a:buClr>
              <a:buSzPts val="3600"/>
              <a:buFont typeface="Francois One"/>
              <a:buNone/>
            </a:pPr>
            <a:r>
              <a:rPr b="0" i="0" lang="en" sz="3600" u="none" cap="none" strike="noStrike">
                <a:solidFill>
                  <a:srgbClr val="0C343D"/>
                </a:solidFill>
                <a:latin typeface="Francois One"/>
                <a:ea typeface="Francois One"/>
                <a:cs typeface="Francois One"/>
                <a:sym typeface="Francois One"/>
              </a:rPr>
              <a:t>Poking the Internet</a:t>
            </a:r>
            <a:endParaRPr b="0" i="0" sz="3600" u="none" cap="none" strike="noStrike">
              <a:solidFill>
                <a:srgbClr val="0C343D"/>
              </a:solidFill>
              <a:latin typeface="Francois One"/>
              <a:ea typeface="Francois One"/>
              <a:cs typeface="Francois One"/>
              <a:sym typeface="Francois On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28f0a7e353_1_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Ping, Traceroute, Dig</a:t>
            </a:r>
            <a:endParaRPr b="0" i="0" sz="3000" u="none" cap="none" strike="noStrike">
              <a:solidFill>
                <a:srgbClr val="0C343D"/>
              </a:solidFill>
              <a:latin typeface="Francois One"/>
              <a:ea typeface="Francois One"/>
              <a:cs typeface="Francois One"/>
              <a:sym typeface="Francois One"/>
            </a:endParaRPr>
          </a:p>
        </p:txBody>
      </p:sp>
      <p:sp>
        <p:nvSpPr>
          <p:cNvPr id="192" name="Google Shape;192;g328f0a7e353_1_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lang="en"/>
              <a:t>Internet is large and complex. Network engineers and researchers have built some handy tools to get </a:t>
            </a:r>
            <a:r>
              <a:rPr b="0" i="0" lang="en" sz="2000" u="none" cap="none" strike="noStrike">
                <a:solidFill>
                  <a:srgbClr val="0C343D"/>
                </a:solidFill>
                <a:latin typeface="Arial"/>
                <a:ea typeface="Arial"/>
                <a:cs typeface="Arial"/>
                <a:sym typeface="Arial"/>
              </a:rPr>
              <a:t>some insight into what is going on inside and across the internet.</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We’re going to play around with them a little bit</a:t>
            </a:r>
            <a:endParaRPr b="0" i="0" sz="2000" u="none" cap="none" strike="noStrike">
              <a:solidFill>
                <a:srgbClr val="0C343D"/>
              </a:solidFill>
              <a:latin typeface="Arial"/>
              <a:ea typeface="Arial"/>
              <a:cs typeface="Arial"/>
              <a:sym typeface="Arial"/>
            </a:endParaRPr>
          </a:p>
          <a:p>
            <a:pPr indent="0" lvl="0" marL="0" marR="0" rtl="0" algn="l">
              <a:lnSpc>
                <a:spcPct val="115000"/>
              </a:lnSpc>
              <a:spcBef>
                <a:spcPts val="0"/>
              </a:spcBef>
              <a:spcAft>
                <a:spcPts val="0"/>
              </a:spcAft>
              <a:buSzPts val="2000"/>
              <a:buNone/>
            </a:pPr>
            <a:r>
              <a:t/>
            </a:r>
            <a:endParaRPr/>
          </a:p>
          <a:p>
            <a:pPr indent="0" lvl="0" marL="0" marR="0" rtl="0" algn="l">
              <a:lnSpc>
                <a:spcPct val="115000"/>
              </a:lnSpc>
              <a:spcBef>
                <a:spcPts val="0"/>
              </a:spcBef>
              <a:spcAft>
                <a:spcPts val="0"/>
              </a:spcAft>
              <a:buSzPts val="2000"/>
              <a:buNone/>
            </a:pPr>
            <a:r>
              <a:t/>
            </a:r>
            <a:endParaRPr/>
          </a:p>
          <a:p>
            <a:pPr indent="0" lvl="0" marL="0" marR="0" rtl="0" algn="l">
              <a:lnSpc>
                <a:spcPct val="115000"/>
              </a:lnSpc>
              <a:spcBef>
                <a:spcPts val="0"/>
              </a:spcBef>
              <a:spcAft>
                <a:spcPts val="0"/>
              </a:spcAft>
              <a:buSzPts val="2000"/>
              <a:buNone/>
            </a:pPr>
            <a:r>
              <a:rPr i="1" lang="en"/>
              <a:t>Think of this as a “tinker discussion”</a:t>
            </a:r>
            <a:r>
              <a:rPr lang="en"/>
              <a:t> - you aren’t expected to know any of these concepts yet. We’ll learn about them throughout the semester.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28f0a7e353_1_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Ping</a:t>
            </a:r>
            <a:r>
              <a:rPr b="0" i="0" lang="en" sz="3000" u="none" cap="none" strike="noStrike">
                <a:solidFill>
                  <a:srgbClr val="EFEFEF"/>
                </a:solidFill>
                <a:latin typeface="Francois One"/>
                <a:ea typeface="Francois One"/>
                <a:cs typeface="Francois One"/>
                <a:sym typeface="Francois One"/>
              </a:rPr>
              <a:t>, Traceroute, Dig</a:t>
            </a:r>
            <a:endParaRPr b="0" i="0" sz="3000" u="none" cap="none" strike="noStrike">
              <a:solidFill>
                <a:srgbClr val="EFEFEF"/>
              </a:solidFill>
              <a:latin typeface="Francois One"/>
              <a:ea typeface="Francois One"/>
              <a:cs typeface="Francois One"/>
              <a:sym typeface="Francois One"/>
            </a:endParaRPr>
          </a:p>
          <a:p>
            <a:pPr indent="0" lvl="0" marL="0" marR="0" rtl="0" algn="l">
              <a:lnSpc>
                <a:spcPct val="100000"/>
              </a:lnSpc>
              <a:spcBef>
                <a:spcPts val="0"/>
              </a:spcBef>
              <a:spcAft>
                <a:spcPts val="0"/>
              </a:spcAft>
              <a:buClr>
                <a:srgbClr val="0C343D"/>
              </a:buClr>
              <a:buSzPts val="3000"/>
              <a:buFont typeface="Francois One"/>
              <a:buNone/>
            </a:pPr>
            <a:r>
              <a:t/>
            </a:r>
            <a:endParaRPr b="0" i="0" sz="3000" u="none" cap="none" strike="noStrike">
              <a:solidFill>
                <a:srgbClr val="0C343D"/>
              </a:solidFill>
              <a:latin typeface="Francois One"/>
              <a:ea typeface="Francois One"/>
              <a:cs typeface="Francois One"/>
              <a:sym typeface="Francois One"/>
            </a:endParaRPr>
          </a:p>
        </p:txBody>
      </p:sp>
      <p:sp>
        <p:nvSpPr>
          <p:cNvPr id="198" name="Google Shape;198;g328f0a7e353_1_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lang="en"/>
              <a:t>S</a:t>
            </a:r>
            <a:r>
              <a:rPr b="0" i="0" lang="en" sz="2000" u="none" cap="none" strike="noStrike">
                <a:solidFill>
                  <a:srgbClr val="0C343D"/>
                </a:solidFill>
                <a:latin typeface="Arial"/>
                <a:ea typeface="Arial"/>
                <a:cs typeface="Arial"/>
                <a:sym typeface="Arial"/>
              </a:rPr>
              <a:t>imple utility that lets you </a:t>
            </a:r>
            <a:r>
              <a:rPr lang="en"/>
              <a:t>“</a:t>
            </a:r>
            <a:r>
              <a:rPr b="0" i="0" lang="en" sz="2000" u="none" cap="none" strike="noStrike">
                <a:solidFill>
                  <a:srgbClr val="0C343D"/>
                </a:solidFill>
                <a:latin typeface="Arial"/>
                <a:ea typeface="Arial"/>
                <a:cs typeface="Arial"/>
                <a:sym typeface="Arial"/>
              </a:rPr>
              <a:t>poke</a:t>
            </a:r>
            <a:r>
              <a:rPr lang="en"/>
              <a:t>”</a:t>
            </a:r>
            <a:r>
              <a:rPr b="0" i="0" lang="en" sz="2000" u="none" cap="none" strike="noStrike">
                <a:solidFill>
                  <a:srgbClr val="0C343D"/>
                </a:solidFill>
                <a:latin typeface="Arial"/>
                <a:ea typeface="Arial"/>
                <a:cs typeface="Arial"/>
                <a:sym typeface="Arial"/>
              </a:rPr>
              <a:t> a website and see if it moves (spoiler: most do!)</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You say hi and see if the server says hi back</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This by itself is not super interesting</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Ping also tells you </a:t>
            </a:r>
            <a:r>
              <a:rPr b="0" i="0" lang="en" sz="2000" u="sng" cap="none" strike="noStrike">
                <a:solidFill>
                  <a:srgbClr val="0C343D"/>
                </a:solidFill>
                <a:latin typeface="Arial"/>
                <a:ea typeface="Arial"/>
                <a:cs typeface="Arial"/>
                <a:sym typeface="Arial"/>
              </a:rPr>
              <a:t>how long</a:t>
            </a:r>
            <a:r>
              <a:rPr b="0" i="0" lang="en" sz="2000" u="none" cap="none" strike="noStrike">
                <a:solidFill>
                  <a:srgbClr val="0C343D"/>
                </a:solidFill>
                <a:latin typeface="Arial"/>
                <a:ea typeface="Arial"/>
                <a:cs typeface="Arial"/>
                <a:sym typeface="Arial"/>
              </a:rPr>
              <a:t> the reply took to come back</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This is more interesting!</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Let’s try out a few websites.</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28f0a7e353_1_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C343D"/>
              </a:buClr>
              <a:buSzPts val="3000"/>
              <a:buFont typeface="Francois One"/>
              <a:buNone/>
            </a:pPr>
            <a:r>
              <a:rPr lang="en"/>
              <a:t>Ping</a:t>
            </a:r>
            <a:r>
              <a:rPr lang="en">
                <a:solidFill>
                  <a:srgbClr val="EFEFEF"/>
                </a:solidFill>
              </a:rPr>
              <a:t>, Traceroute, Dig</a:t>
            </a:r>
            <a:endParaRPr>
              <a:solidFill>
                <a:srgbClr val="EFEFEF"/>
              </a:solidFill>
            </a:endParaRPr>
          </a:p>
          <a:p>
            <a:pPr indent="0" lvl="0" marL="0" rtl="0" algn="l">
              <a:lnSpc>
                <a:spcPct val="100000"/>
              </a:lnSpc>
              <a:spcBef>
                <a:spcPts val="0"/>
              </a:spcBef>
              <a:spcAft>
                <a:spcPts val="0"/>
              </a:spcAft>
              <a:buClr>
                <a:srgbClr val="0C343D"/>
              </a:buClr>
              <a:buSzPts val="3000"/>
              <a:buFont typeface="Francois One"/>
              <a:buNone/>
            </a:pPr>
            <a:r>
              <a:t/>
            </a:r>
            <a:endParaRPr/>
          </a:p>
          <a:p>
            <a:pPr indent="0" lvl="0" marL="0" rtl="0" algn="l">
              <a:lnSpc>
                <a:spcPct val="100000"/>
              </a:lnSpc>
              <a:spcBef>
                <a:spcPts val="0"/>
              </a:spcBef>
              <a:spcAft>
                <a:spcPts val="0"/>
              </a:spcAft>
              <a:buSzPts val="3000"/>
              <a:buNone/>
            </a:pPr>
            <a:r>
              <a:t/>
            </a:r>
            <a:endParaRPr/>
          </a:p>
        </p:txBody>
      </p:sp>
      <p:sp>
        <p:nvSpPr>
          <p:cNvPr id="204" name="Google Shape;204;g328f0a7e353_1_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Predictions?</a:t>
            </a:r>
            <a:endParaRPr/>
          </a:p>
          <a:p>
            <a:pPr indent="-355600" lvl="0" marL="457200" rtl="0" algn="l">
              <a:lnSpc>
                <a:spcPct val="115000"/>
              </a:lnSpc>
              <a:spcBef>
                <a:spcPts val="0"/>
              </a:spcBef>
              <a:spcAft>
                <a:spcPts val="0"/>
              </a:spcAft>
              <a:buSzPts val="2000"/>
              <a:buChar char="●"/>
            </a:pPr>
            <a:r>
              <a:rPr lang="en"/>
              <a:t>berkeley.edu</a:t>
            </a:r>
            <a:endParaRPr/>
          </a:p>
          <a:p>
            <a:pPr indent="-355600" lvl="0" marL="457200" rtl="0" algn="l">
              <a:lnSpc>
                <a:spcPct val="115000"/>
              </a:lnSpc>
              <a:spcBef>
                <a:spcPts val="0"/>
              </a:spcBef>
              <a:spcAft>
                <a:spcPts val="0"/>
              </a:spcAft>
              <a:buSzPts val="2000"/>
              <a:buChar char="●"/>
            </a:pPr>
            <a:r>
              <a:rPr lang="en"/>
              <a:t>google.com</a:t>
            </a:r>
            <a:endParaRPr/>
          </a:p>
          <a:p>
            <a:pPr indent="-355600" lvl="0" marL="457200" rtl="0" algn="l">
              <a:lnSpc>
                <a:spcPct val="115000"/>
              </a:lnSpc>
              <a:spcBef>
                <a:spcPts val="0"/>
              </a:spcBef>
              <a:spcAft>
                <a:spcPts val="0"/>
              </a:spcAft>
              <a:buSzPts val="2000"/>
              <a:buChar char="●"/>
            </a:pPr>
            <a:r>
              <a:rPr lang="en"/>
              <a:t>ford.com (Ford, a car company headquartered in Michigan)</a:t>
            </a:r>
            <a:endParaRPr/>
          </a:p>
          <a:p>
            <a:pPr indent="-355600" lvl="0" marL="457200" rtl="0" algn="l">
              <a:lnSpc>
                <a:spcPct val="115000"/>
              </a:lnSpc>
              <a:spcBef>
                <a:spcPts val="0"/>
              </a:spcBef>
              <a:spcAft>
                <a:spcPts val="0"/>
              </a:spcAft>
              <a:buSzPts val="2000"/>
              <a:buChar char="●"/>
            </a:pPr>
            <a:r>
              <a:rPr lang="en"/>
              <a:t>csail.mit.edu (MIT’s CS department)</a:t>
            </a:r>
            <a:endParaRPr/>
          </a:p>
          <a:p>
            <a:pPr indent="-355600" lvl="0" marL="457200" rtl="0" algn="l">
              <a:lnSpc>
                <a:spcPct val="115000"/>
              </a:lnSpc>
              <a:spcBef>
                <a:spcPts val="0"/>
              </a:spcBef>
              <a:spcAft>
                <a:spcPts val="0"/>
              </a:spcAft>
              <a:buSzPts val="2000"/>
              <a:buChar char="●"/>
            </a:pPr>
            <a:r>
              <a:rPr lang="en"/>
              <a:t>lmu.de (University of Munich)</a:t>
            </a:r>
            <a:endParaRPr/>
          </a:p>
          <a:p>
            <a:pPr indent="-355600" lvl="0" marL="457200" rtl="0" algn="l">
              <a:lnSpc>
                <a:spcPct val="115000"/>
              </a:lnSpc>
              <a:spcBef>
                <a:spcPts val="0"/>
              </a:spcBef>
              <a:spcAft>
                <a:spcPts val="0"/>
              </a:spcAft>
              <a:buSzPts val="2000"/>
              <a:buChar char="●"/>
            </a:pPr>
            <a:r>
              <a:rPr lang="en"/>
              <a:t>unam.edu.na (University of Namibia)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28f0a7e353_1_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Ping: A prediction</a:t>
            </a:r>
            <a:endParaRPr b="0" i="0" sz="3000" u="none" cap="none" strike="noStrike">
              <a:solidFill>
                <a:srgbClr val="0C343D"/>
              </a:solidFill>
              <a:latin typeface="Francois One"/>
              <a:ea typeface="Francois One"/>
              <a:cs typeface="Francois One"/>
              <a:sym typeface="Francois One"/>
            </a:endParaRPr>
          </a:p>
        </p:txBody>
      </p:sp>
      <p:sp>
        <p:nvSpPr>
          <p:cNvPr id="210" name="Google Shape;210;g328f0a7e353_1_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We’ve pinged a couple websites and seen pretty significant differences in </a:t>
            </a:r>
            <a:r>
              <a:rPr b="0" i="1" lang="en" sz="2000" u="none" cap="none" strike="noStrike">
                <a:solidFill>
                  <a:srgbClr val="0C343D"/>
                </a:solidFill>
                <a:latin typeface="Arial"/>
                <a:ea typeface="Arial"/>
                <a:cs typeface="Arial"/>
                <a:sym typeface="Arial"/>
              </a:rPr>
              <a:t>latency</a:t>
            </a:r>
            <a:r>
              <a:rPr b="0" i="0" lang="en" sz="2000" u="none" cap="none" strike="noStrike">
                <a:solidFill>
                  <a:srgbClr val="0C343D"/>
                </a:solidFill>
                <a:latin typeface="Arial"/>
                <a:ea typeface="Arial"/>
                <a:cs typeface="Arial"/>
                <a:sym typeface="Arial"/>
              </a:rPr>
              <a:t>.</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1" i="0" lang="en" sz="2000" u="sng" cap="none" strike="noStrike">
                <a:solidFill>
                  <a:srgbClr val="0C343D"/>
                </a:solidFill>
                <a:latin typeface="Arial"/>
                <a:ea typeface="Arial"/>
                <a:cs typeface="Arial"/>
                <a:sym typeface="Arial"/>
              </a:rPr>
              <a:t>Latency</a:t>
            </a:r>
            <a:r>
              <a:rPr b="0" i="0" lang="en" sz="2000" u="none" cap="none" strike="noStrike">
                <a:solidFill>
                  <a:srgbClr val="0C343D"/>
                </a:solidFill>
                <a:latin typeface="Arial"/>
                <a:ea typeface="Arial"/>
                <a:cs typeface="Arial"/>
                <a:sym typeface="Arial"/>
              </a:rPr>
              <a:t> is the time between when a request is sent and when the response is heard.</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What about differences in latency for the same website, but in different regions?</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We’ve pinged google.com and seen its latency.</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How many times longer will it take for a ping to google.co.uk to come back?</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28f0a7e353_1_1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C343D"/>
              </a:buClr>
              <a:buSzPts val="3000"/>
              <a:buFont typeface="Francois One"/>
              <a:buNone/>
            </a:pPr>
            <a:r>
              <a:rPr lang="en"/>
              <a:t>Ping</a:t>
            </a:r>
            <a:r>
              <a:rPr lang="en">
                <a:solidFill>
                  <a:srgbClr val="EFEFEF"/>
                </a:solidFill>
              </a:rPr>
              <a:t>, Traceroute, Dig</a:t>
            </a:r>
            <a:endParaRPr>
              <a:solidFill>
                <a:srgbClr val="EFEFEF"/>
              </a:solidFill>
            </a:endParaRPr>
          </a:p>
          <a:p>
            <a:pPr indent="0" lvl="0" marL="0" rtl="0" algn="l">
              <a:lnSpc>
                <a:spcPct val="100000"/>
              </a:lnSpc>
              <a:spcBef>
                <a:spcPts val="0"/>
              </a:spcBef>
              <a:spcAft>
                <a:spcPts val="0"/>
              </a:spcAft>
              <a:buClr>
                <a:srgbClr val="0C343D"/>
              </a:buClr>
              <a:buSzPts val="3000"/>
              <a:buFont typeface="Francois One"/>
              <a:buNone/>
            </a:pPr>
            <a:r>
              <a:t/>
            </a:r>
            <a:endParaRPr/>
          </a:p>
          <a:p>
            <a:pPr indent="0" lvl="0" marL="0" rtl="0" algn="l">
              <a:lnSpc>
                <a:spcPct val="100000"/>
              </a:lnSpc>
              <a:spcBef>
                <a:spcPts val="0"/>
              </a:spcBef>
              <a:spcAft>
                <a:spcPts val="0"/>
              </a:spcAft>
              <a:buSzPts val="3000"/>
              <a:buNone/>
            </a:pPr>
            <a:r>
              <a:t/>
            </a:r>
            <a:endParaRPr/>
          </a:p>
        </p:txBody>
      </p:sp>
      <p:sp>
        <p:nvSpPr>
          <p:cNvPr id="216" name="Google Shape;216;g328f0a7e353_1_1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sz="1050">
                <a:latin typeface="Consolas"/>
                <a:ea typeface="Consolas"/>
                <a:cs typeface="Consolas"/>
                <a:sym typeface="Consolas"/>
              </a:rPr>
              <a:t>ping berkeley.edu -c 3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PING berkeley.edu (141.193.213.21): 56 data bytes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141.193.213.21: icmp_seq=0 ttl=50 time=14.142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141.193.213.21: icmp_seq=1 ttl=50 time=20.024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141.193.213.21: icmp_seq=2 ttl=50 time=17.540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berkeley.edu ping statistics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3 packets transmitted, 3 packets received, 0.0% packet loss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round-trip min/avg/max/stddev = 14.142/17.235/20.024/2.411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ping csail.mit.edu -c 3</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PING csail.mit.edu (128.52.132.19): 56 data bytes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128.52.132.19: icmp_seq=0 ttl=32 time=108.253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128.52.132.19: icmp_seq=1 ttl=32 time=109.574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64 bytes from 128.52.132.19: icmp_seq=2 ttl=32 time=98.613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csail.mit.edu ping statistics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3 packets transmitted, 3 packets received, 0.0% packet loss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round-trip min/avg/max/stddev = 98.613/105.480/109.574/4.886 ms</a:t>
            </a:r>
            <a:endParaRPr sz="1050">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28f0a7e353_1_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EFEFEF"/>
                </a:solidFill>
                <a:latin typeface="Francois One"/>
                <a:ea typeface="Francois One"/>
                <a:cs typeface="Francois One"/>
                <a:sym typeface="Francois One"/>
              </a:rPr>
              <a:t>Ping, </a:t>
            </a:r>
            <a:r>
              <a:rPr b="0" i="0" lang="en" sz="3000" u="none" cap="none" strike="noStrike">
                <a:solidFill>
                  <a:srgbClr val="0C343D"/>
                </a:solidFill>
                <a:latin typeface="Francois One"/>
                <a:ea typeface="Francois One"/>
                <a:cs typeface="Francois One"/>
                <a:sym typeface="Francois One"/>
              </a:rPr>
              <a:t>Traceroute</a:t>
            </a:r>
            <a:r>
              <a:rPr b="0" i="0" lang="en" sz="3000" u="none" cap="none" strike="noStrike">
                <a:solidFill>
                  <a:srgbClr val="EFEFEF"/>
                </a:solidFill>
                <a:latin typeface="Francois One"/>
                <a:ea typeface="Francois One"/>
                <a:cs typeface="Francois One"/>
                <a:sym typeface="Francois One"/>
              </a:rPr>
              <a:t>, Dig</a:t>
            </a:r>
            <a:endParaRPr b="0" i="0" sz="3000" u="none" cap="none" strike="noStrike">
              <a:solidFill>
                <a:srgbClr val="EFEFEF"/>
              </a:solidFill>
              <a:latin typeface="Francois One"/>
              <a:ea typeface="Francois One"/>
              <a:cs typeface="Francois One"/>
              <a:sym typeface="Francois One"/>
            </a:endParaRPr>
          </a:p>
        </p:txBody>
      </p:sp>
      <p:sp>
        <p:nvSpPr>
          <p:cNvPr id="222" name="Google Shape;222;g328f0a7e353_1_77"/>
          <p:cNvSpPr txBox="1"/>
          <p:nvPr>
            <p:ph idx="1" type="body"/>
          </p:nvPr>
        </p:nvSpPr>
        <p:spPr>
          <a:xfrm>
            <a:off x="311700" y="1152475"/>
            <a:ext cx="8832300" cy="34164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0C343D"/>
              </a:buClr>
              <a:buSzPts val="1800"/>
              <a:buFont typeface="Arial"/>
              <a:buChar char="●"/>
            </a:pPr>
            <a:r>
              <a:rPr lang="en" sz="1800"/>
              <a:t>Tool to</a:t>
            </a:r>
            <a:r>
              <a:rPr b="0" i="0" lang="en" sz="1800" u="none" cap="none" strike="noStrike">
                <a:solidFill>
                  <a:srgbClr val="0C343D"/>
                </a:solidFill>
                <a:latin typeface="Arial"/>
                <a:ea typeface="Arial"/>
                <a:cs typeface="Arial"/>
                <a:sym typeface="Arial"/>
              </a:rPr>
              <a:t> </a:t>
            </a:r>
            <a:r>
              <a:rPr b="0" i="1" lang="en" sz="1800" u="none" cap="none" strike="noStrike">
                <a:solidFill>
                  <a:srgbClr val="0C343D"/>
                </a:solidFill>
                <a:latin typeface="Arial"/>
                <a:ea typeface="Arial"/>
                <a:cs typeface="Arial"/>
                <a:sym typeface="Arial"/>
              </a:rPr>
              <a:t>trace</a:t>
            </a:r>
            <a:r>
              <a:rPr b="0" i="0" lang="en" sz="1800" u="none" cap="none" strike="noStrike">
                <a:solidFill>
                  <a:srgbClr val="0C343D"/>
                </a:solidFill>
                <a:latin typeface="Arial"/>
                <a:ea typeface="Arial"/>
                <a:cs typeface="Arial"/>
                <a:sym typeface="Arial"/>
              </a:rPr>
              <a:t> the </a:t>
            </a:r>
            <a:r>
              <a:rPr b="0" i="1" lang="en" sz="1800" u="none" cap="none" strike="noStrike">
                <a:solidFill>
                  <a:srgbClr val="0C343D"/>
                </a:solidFill>
                <a:latin typeface="Arial"/>
                <a:ea typeface="Arial"/>
                <a:cs typeface="Arial"/>
                <a:sym typeface="Arial"/>
              </a:rPr>
              <a:t>route</a:t>
            </a:r>
            <a:r>
              <a:rPr b="0" i="0" lang="en" sz="1800" u="none" cap="none" strike="noStrike">
                <a:solidFill>
                  <a:srgbClr val="0C343D"/>
                </a:solidFill>
                <a:latin typeface="Arial"/>
                <a:ea typeface="Arial"/>
                <a:cs typeface="Arial"/>
                <a:sym typeface="Arial"/>
              </a:rPr>
              <a:t> that packets take from your computer to the destination.</a:t>
            </a:r>
            <a:endParaRPr b="0" i="0" sz="1800" u="none" cap="none" strike="noStrike">
              <a:solidFill>
                <a:srgbClr val="0C343D"/>
              </a:solidFill>
              <a:latin typeface="Arial"/>
              <a:ea typeface="Arial"/>
              <a:cs typeface="Arial"/>
              <a:sym typeface="Arial"/>
            </a:endParaRPr>
          </a:p>
          <a:p>
            <a:pPr indent="-342900" lvl="1" marL="914400" marR="0" rtl="0" algn="l">
              <a:lnSpc>
                <a:spcPct val="115000"/>
              </a:lnSpc>
              <a:spcBef>
                <a:spcPts val="0"/>
              </a:spcBef>
              <a:spcAft>
                <a:spcPts val="0"/>
              </a:spcAft>
              <a:buClr>
                <a:srgbClr val="0C343D"/>
              </a:buClr>
              <a:buSzPts val="1800"/>
              <a:buFont typeface="Arial"/>
              <a:buChar char="○"/>
            </a:pPr>
            <a:r>
              <a:rPr b="0" i="0" lang="en" sz="1800" u="none" cap="none" strike="noStrike">
                <a:solidFill>
                  <a:srgbClr val="0C343D"/>
                </a:solidFill>
                <a:latin typeface="Arial"/>
                <a:ea typeface="Arial"/>
                <a:cs typeface="Arial"/>
                <a:sym typeface="Arial"/>
              </a:rPr>
              <a:t>Specifically lets you see the routers/switches that are forwarding your packets.</a:t>
            </a:r>
            <a:endParaRPr b="0" i="0" sz="1800" u="none" cap="none" strike="noStrike">
              <a:solidFill>
                <a:srgbClr val="0C343D"/>
              </a:solidFill>
              <a:latin typeface="Arial"/>
              <a:ea typeface="Arial"/>
              <a:cs typeface="Arial"/>
              <a:sym typeface="Arial"/>
            </a:endParaRPr>
          </a:p>
        </p:txBody>
      </p:sp>
      <p:pic>
        <p:nvPicPr>
          <p:cNvPr id="223" name="Google Shape;223;g328f0a7e353_1_77"/>
          <p:cNvPicPr preferRelativeResize="0"/>
          <p:nvPr/>
        </p:nvPicPr>
        <p:blipFill rotWithShape="1">
          <a:blip r:embed="rId3">
            <a:alphaModFix/>
          </a:blip>
          <a:srcRect b="10143" l="0" r="14690" t="11767"/>
          <a:stretch/>
        </p:blipFill>
        <p:spPr>
          <a:xfrm>
            <a:off x="2410300" y="2016525"/>
            <a:ext cx="4010275" cy="2753125"/>
          </a:xfrm>
          <a:prstGeom prst="rect">
            <a:avLst/>
          </a:prstGeom>
          <a:noFill/>
          <a:ln>
            <a:noFill/>
          </a:ln>
        </p:spPr>
      </p:pic>
      <p:sp>
        <p:nvSpPr>
          <p:cNvPr id="224" name="Google Shape;224;g328f0a7e353_1_77"/>
          <p:cNvSpPr/>
          <p:nvPr/>
        </p:nvSpPr>
        <p:spPr>
          <a:xfrm>
            <a:off x="3555225" y="3235288"/>
            <a:ext cx="326100" cy="31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a:t>
            </a:r>
            <a:endParaRPr b="1" i="0" sz="1200" u="none" cap="none" strike="noStrike">
              <a:solidFill>
                <a:srgbClr val="000000"/>
              </a:solidFill>
              <a:latin typeface="Arial"/>
              <a:ea typeface="Arial"/>
              <a:cs typeface="Arial"/>
              <a:sym typeface="Arial"/>
            </a:endParaRPr>
          </a:p>
        </p:txBody>
      </p:sp>
      <p:sp>
        <p:nvSpPr>
          <p:cNvPr id="225" name="Google Shape;225;g328f0a7e353_1_77"/>
          <p:cNvSpPr/>
          <p:nvPr/>
        </p:nvSpPr>
        <p:spPr>
          <a:xfrm>
            <a:off x="5003025" y="3159088"/>
            <a:ext cx="326100" cy="31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2</a:t>
            </a:r>
            <a:endParaRPr b="1"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28f0a7e353_1_1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EFEFEF"/>
                </a:solidFill>
                <a:latin typeface="Francois One"/>
                <a:ea typeface="Francois One"/>
                <a:cs typeface="Francois One"/>
                <a:sym typeface="Francois One"/>
              </a:rPr>
              <a:t>Ping, </a:t>
            </a:r>
            <a:r>
              <a:rPr b="0" i="0" lang="en" sz="3000" u="none" cap="none" strike="noStrike">
                <a:solidFill>
                  <a:srgbClr val="0C343D"/>
                </a:solidFill>
                <a:latin typeface="Francois One"/>
                <a:ea typeface="Francois One"/>
                <a:cs typeface="Francois One"/>
                <a:sym typeface="Francois One"/>
              </a:rPr>
              <a:t>Traceroute</a:t>
            </a:r>
            <a:r>
              <a:rPr b="0" i="0" lang="en" sz="3000" u="none" cap="none" strike="noStrike">
                <a:solidFill>
                  <a:srgbClr val="EFEFEF"/>
                </a:solidFill>
                <a:latin typeface="Francois One"/>
                <a:ea typeface="Francois One"/>
                <a:cs typeface="Francois One"/>
                <a:sym typeface="Francois One"/>
              </a:rPr>
              <a:t>, Dig</a:t>
            </a:r>
            <a:endParaRPr b="0" i="0" sz="3000" u="none" cap="none" strike="noStrike">
              <a:solidFill>
                <a:srgbClr val="EFEFEF"/>
              </a:solidFill>
              <a:latin typeface="Francois One"/>
              <a:ea typeface="Francois One"/>
              <a:cs typeface="Francois One"/>
              <a:sym typeface="Francois One"/>
            </a:endParaRPr>
          </a:p>
          <a:p>
            <a:pPr indent="0" lvl="0" marL="0" marR="0" rtl="0" algn="l">
              <a:lnSpc>
                <a:spcPct val="100000"/>
              </a:lnSpc>
              <a:spcBef>
                <a:spcPts val="0"/>
              </a:spcBef>
              <a:spcAft>
                <a:spcPts val="0"/>
              </a:spcAft>
              <a:buClr>
                <a:srgbClr val="0C343D"/>
              </a:buClr>
              <a:buSzPts val="3000"/>
              <a:buFont typeface="Francois One"/>
              <a:buNone/>
            </a:pPr>
            <a:r>
              <a:t/>
            </a:r>
            <a:endParaRPr b="0" i="0" sz="3000" u="none" cap="none" strike="noStrike">
              <a:solidFill>
                <a:srgbClr val="0C343D"/>
              </a:solidFill>
              <a:latin typeface="Francois One"/>
              <a:ea typeface="Francois One"/>
              <a:cs typeface="Francois One"/>
              <a:sym typeface="Francois One"/>
            </a:endParaRPr>
          </a:p>
        </p:txBody>
      </p:sp>
      <p:sp>
        <p:nvSpPr>
          <p:cNvPr id="231" name="Google Shape;231;g328f0a7e353_1_18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Traceroute gives you the path of routers and switches your packets take.</a:t>
            </a:r>
            <a:endParaRPr b="0" i="0" sz="1600" u="none" cap="none" strike="noStrike">
              <a:solidFill>
                <a:srgbClr val="0C343D"/>
              </a:solidFill>
              <a:latin typeface="Arial"/>
              <a:ea typeface="Arial"/>
              <a:cs typeface="Arial"/>
              <a:sym typeface="Arial"/>
            </a:endParaRPr>
          </a:p>
          <a:p>
            <a:pPr indent="-330200" lvl="0" marL="4572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How?</a:t>
            </a:r>
            <a:endParaRPr b="0" i="0" sz="1600" u="none" cap="none" strike="noStrike">
              <a:solidFill>
                <a:srgbClr val="0C343D"/>
              </a:solidFill>
              <a:latin typeface="Arial"/>
              <a:ea typeface="Arial"/>
              <a:cs typeface="Arial"/>
              <a:sym typeface="Arial"/>
            </a:endParaRPr>
          </a:p>
          <a:p>
            <a:pPr indent="-330200" lvl="1" marL="9144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Takes advantage of something called a </a:t>
            </a:r>
            <a:r>
              <a:rPr b="1" i="0" lang="en" sz="1600" u="none" cap="none" strike="noStrike">
                <a:solidFill>
                  <a:srgbClr val="0C343D"/>
                </a:solidFill>
                <a:latin typeface="Arial"/>
                <a:ea typeface="Arial"/>
                <a:cs typeface="Arial"/>
                <a:sym typeface="Arial"/>
              </a:rPr>
              <a:t>TTL</a:t>
            </a:r>
            <a:r>
              <a:rPr b="0" i="0" lang="en" sz="1600" u="none" cap="none" strike="noStrike">
                <a:solidFill>
                  <a:srgbClr val="0C343D"/>
                </a:solidFill>
                <a:latin typeface="Arial"/>
                <a:ea typeface="Arial"/>
                <a:cs typeface="Arial"/>
                <a:sym typeface="Arial"/>
              </a:rPr>
              <a:t> in the packet IP header.</a:t>
            </a:r>
            <a:endParaRPr b="0" i="0" sz="1600" u="none" cap="none" strike="noStrike">
              <a:solidFill>
                <a:srgbClr val="0C343D"/>
              </a:solidFill>
              <a:latin typeface="Arial"/>
              <a:ea typeface="Arial"/>
              <a:cs typeface="Arial"/>
              <a:sym typeface="Arial"/>
            </a:endParaRPr>
          </a:p>
          <a:p>
            <a:pPr indent="-330200" lvl="1" marL="9144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TTL denotes how many times a packet should be forwarded before it is discarded.</a:t>
            </a:r>
            <a:endParaRPr b="0" i="0" sz="1600" u="none" cap="none" strike="noStrike">
              <a:solidFill>
                <a:srgbClr val="0C343D"/>
              </a:solidFill>
              <a:latin typeface="Arial"/>
              <a:ea typeface="Arial"/>
              <a:cs typeface="Arial"/>
              <a:sym typeface="Arial"/>
            </a:endParaRPr>
          </a:p>
          <a:p>
            <a:pPr indent="-330200" lvl="2" marL="13716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Why does this exist?</a:t>
            </a:r>
            <a:endParaRPr b="0" i="0" sz="1600" u="none" cap="none" strike="noStrike">
              <a:solidFill>
                <a:srgbClr val="0C343D"/>
              </a:solidFill>
              <a:latin typeface="Arial"/>
              <a:ea typeface="Arial"/>
              <a:cs typeface="Arial"/>
              <a:sym typeface="Arial"/>
            </a:endParaRPr>
          </a:p>
          <a:p>
            <a:pPr indent="-330200" lvl="3" marL="18288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To stop the internet from collapsing! (We’ll cover this when we get to routing)</a:t>
            </a:r>
            <a:endParaRPr b="0" i="0" sz="1600" u="none" cap="none" strike="noStrike">
              <a:solidFill>
                <a:srgbClr val="0C343D"/>
              </a:solidFill>
              <a:latin typeface="Arial"/>
              <a:ea typeface="Arial"/>
              <a:cs typeface="Arial"/>
              <a:sym typeface="Arial"/>
            </a:endParaRPr>
          </a:p>
          <a:p>
            <a:pPr indent="-330200" lvl="1" marL="9144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Sets the TTL to 1, 2, 3, etc</a:t>
            </a:r>
            <a:endParaRPr b="0" i="0" sz="1600" u="none" cap="none" strike="noStrike">
              <a:solidFill>
                <a:srgbClr val="0C343D"/>
              </a:solidFill>
              <a:latin typeface="Arial"/>
              <a:ea typeface="Arial"/>
              <a:cs typeface="Arial"/>
              <a:sym typeface="Arial"/>
            </a:endParaRPr>
          </a:p>
          <a:p>
            <a:pPr indent="-330200" lvl="1" marL="9144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When packets are dropped because of TTL expiring, most routers send back a message telling us.</a:t>
            </a:r>
            <a:endParaRPr b="0" i="0" sz="1600" u="none" cap="none" strike="noStrike">
              <a:solidFill>
                <a:srgbClr val="0C343D"/>
              </a:solidFill>
              <a:latin typeface="Arial"/>
              <a:ea typeface="Arial"/>
              <a:cs typeface="Arial"/>
              <a:sym typeface="Arial"/>
            </a:endParaRPr>
          </a:p>
          <a:p>
            <a:pPr indent="-330200" lvl="1" marL="914400" marR="0" rtl="0" algn="l">
              <a:lnSpc>
                <a:spcPct val="115000"/>
              </a:lnSpc>
              <a:spcBef>
                <a:spcPts val="0"/>
              </a:spcBef>
              <a:spcAft>
                <a:spcPts val="0"/>
              </a:spcAft>
              <a:buClr>
                <a:srgbClr val="0C343D"/>
              </a:buClr>
              <a:buSzPts val="1600"/>
              <a:buFont typeface="Arial"/>
              <a:buChar char="○"/>
            </a:pPr>
            <a:r>
              <a:rPr b="0" i="0" lang="en" sz="1600" u="none" cap="none" strike="noStrike">
                <a:solidFill>
                  <a:srgbClr val="0C343D"/>
                </a:solidFill>
                <a:latin typeface="Arial"/>
                <a:ea typeface="Arial"/>
                <a:cs typeface="Arial"/>
                <a:sym typeface="Arial"/>
              </a:rPr>
              <a:t>Use the source of this notification to identify the routers along the packet’s path.</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28f0a7e353_1_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EFEFEF"/>
                </a:solidFill>
                <a:latin typeface="Francois One"/>
                <a:ea typeface="Francois One"/>
                <a:cs typeface="Francois One"/>
                <a:sym typeface="Francois One"/>
              </a:rPr>
              <a:t>Ping, </a:t>
            </a:r>
            <a:r>
              <a:rPr b="0" i="0" lang="en" sz="3000" u="none" cap="none" strike="noStrike">
                <a:solidFill>
                  <a:srgbClr val="0C343D"/>
                </a:solidFill>
                <a:latin typeface="Francois One"/>
                <a:ea typeface="Francois One"/>
                <a:cs typeface="Francois One"/>
                <a:sym typeface="Francois One"/>
              </a:rPr>
              <a:t>Traceroute</a:t>
            </a:r>
            <a:r>
              <a:rPr b="0" i="0" lang="en" sz="3000" u="none" cap="none" strike="noStrike">
                <a:solidFill>
                  <a:srgbClr val="EFEFEF"/>
                </a:solidFill>
                <a:latin typeface="Francois One"/>
                <a:ea typeface="Francois One"/>
                <a:cs typeface="Francois One"/>
                <a:sym typeface="Francois One"/>
              </a:rPr>
              <a:t>, Dig</a:t>
            </a:r>
            <a:endParaRPr b="0" i="0" sz="3000" u="none" cap="none" strike="noStrike">
              <a:solidFill>
                <a:srgbClr val="EFEFEF"/>
              </a:solidFill>
              <a:latin typeface="Francois One"/>
              <a:ea typeface="Francois One"/>
              <a:cs typeface="Francois One"/>
              <a:sym typeface="Francois One"/>
            </a:endParaRPr>
          </a:p>
        </p:txBody>
      </p:sp>
      <p:sp>
        <p:nvSpPr>
          <p:cNvPr id="237" name="Google Shape;237;g328f0a7e353_1_85"/>
          <p:cNvSpPr txBox="1"/>
          <p:nvPr>
            <p:ph idx="1" type="body"/>
          </p:nvPr>
        </p:nvSpPr>
        <p:spPr>
          <a:xfrm>
            <a:off x="311700" y="1152475"/>
            <a:ext cx="88323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2000"/>
              <a:buNone/>
            </a:pPr>
            <a:r>
              <a:rPr lang="en" sz="1800"/>
              <a:t>Demo, pick your favorite(s):</a:t>
            </a:r>
            <a:endParaRPr sz="1800"/>
          </a:p>
          <a:p>
            <a:pPr indent="-355600" lvl="0" marL="457200" rtl="0" algn="l">
              <a:lnSpc>
                <a:spcPct val="115000"/>
              </a:lnSpc>
              <a:spcBef>
                <a:spcPts val="0"/>
              </a:spcBef>
              <a:spcAft>
                <a:spcPts val="0"/>
              </a:spcAft>
              <a:buSzPts val="2000"/>
              <a:buChar char="●"/>
            </a:pPr>
            <a:r>
              <a:rPr lang="en"/>
              <a:t>berkeley.edu</a:t>
            </a:r>
            <a:endParaRPr/>
          </a:p>
          <a:p>
            <a:pPr indent="-355600" lvl="0" marL="457200" rtl="0" algn="l">
              <a:lnSpc>
                <a:spcPct val="115000"/>
              </a:lnSpc>
              <a:spcBef>
                <a:spcPts val="0"/>
              </a:spcBef>
              <a:spcAft>
                <a:spcPts val="0"/>
              </a:spcAft>
              <a:buSzPts val="2000"/>
              <a:buChar char="●"/>
            </a:pPr>
            <a:r>
              <a:rPr lang="en"/>
              <a:t>google.com</a:t>
            </a:r>
            <a:endParaRPr/>
          </a:p>
          <a:p>
            <a:pPr indent="-355600" lvl="0" marL="457200" rtl="0" algn="l">
              <a:lnSpc>
                <a:spcPct val="115000"/>
              </a:lnSpc>
              <a:spcBef>
                <a:spcPts val="0"/>
              </a:spcBef>
              <a:spcAft>
                <a:spcPts val="0"/>
              </a:spcAft>
              <a:buSzPts val="2000"/>
              <a:buChar char="●"/>
            </a:pPr>
            <a:r>
              <a:rPr lang="en"/>
              <a:t>csail.mit.edu (MIT’s CS department)</a:t>
            </a:r>
            <a:endParaRPr/>
          </a:p>
          <a:p>
            <a:pPr indent="-355600" lvl="0" marL="457200" rtl="0" algn="l">
              <a:lnSpc>
                <a:spcPct val="115000"/>
              </a:lnSpc>
              <a:spcBef>
                <a:spcPts val="0"/>
              </a:spcBef>
              <a:spcAft>
                <a:spcPts val="0"/>
              </a:spcAft>
              <a:buSzPts val="2000"/>
              <a:buChar char="●"/>
            </a:pPr>
            <a:r>
              <a:rPr lang="en"/>
              <a:t>ford.com (Ford, a car company headquartered in Michigan)</a:t>
            </a:r>
            <a:endParaRPr/>
          </a:p>
          <a:p>
            <a:pPr indent="-355600" lvl="0" marL="457200" rtl="0" algn="l">
              <a:lnSpc>
                <a:spcPct val="115000"/>
              </a:lnSpc>
              <a:spcBef>
                <a:spcPts val="0"/>
              </a:spcBef>
              <a:spcAft>
                <a:spcPts val="0"/>
              </a:spcAft>
              <a:buSzPts val="2000"/>
              <a:buChar char="●"/>
            </a:pPr>
            <a:r>
              <a:rPr lang="en"/>
              <a:t>lmu.de (University of Munich)</a:t>
            </a:r>
            <a:endParaRPr/>
          </a:p>
          <a:p>
            <a:pPr indent="-355600" lvl="0" marL="457200" rtl="0" algn="l">
              <a:lnSpc>
                <a:spcPct val="115000"/>
              </a:lnSpc>
              <a:spcBef>
                <a:spcPts val="0"/>
              </a:spcBef>
              <a:spcAft>
                <a:spcPts val="0"/>
              </a:spcAft>
              <a:buSzPts val="2000"/>
              <a:buChar char="●"/>
            </a:pPr>
            <a:r>
              <a:rPr lang="en"/>
              <a:t>unam.edu.na (University of Namibia)</a:t>
            </a:r>
            <a:endParaRPr/>
          </a:p>
          <a:p>
            <a:pPr indent="0" lvl="0" marL="0" rtl="0" algn="l">
              <a:lnSpc>
                <a:spcPct val="115000"/>
              </a:lnSpc>
              <a:spcBef>
                <a:spcPts val="0"/>
              </a:spcBef>
              <a:spcAft>
                <a:spcPts val="0"/>
              </a:spcAft>
              <a:buSzPts val="2000"/>
              <a:buNone/>
            </a:pPr>
            <a:r>
              <a:t/>
            </a:r>
            <a:endParaRPr/>
          </a:p>
          <a:p>
            <a:pPr indent="0" lvl="0" marL="0" rtl="0" algn="l">
              <a:lnSpc>
                <a:spcPct val="115000"/>
              </a:lnSpc>
              <a:spcBef>
                <a:spcPts val="0"/>
              </a:spcBef>
              <a:spcAft>
                <a:spcPts val="0"/>
              </a:spcAft>
              <a:buSzPts val="2000"/>
              <a:buNone/>
            </a:pPr>
            <a:r>
              <a:rPr lang="en"/>
              <a:t>Now let’s visualize it online at </a:t>
            </a:r>
            <a:r>
              <a:rPr lang="en" u="sng">
                <a:solidFill>
                  <a:srgbClr val="0000FF"/>
                </a:solidFill>
                <a:hlinkClick r:id="rId3">
                  <a:extLst>
                    <a:ext uri="{A12FA001-AC4F-418D-AE19-62706E023703}">
                      <ahyp:hlinkClr val="tx"/>
                    </a:ext>
                  </a:extLst>
                </a:hlinkClick>
              </a:rPr>
              <a:t>geotraceroute.com</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28f0a7e353_1_190"/>
          <p:cNvSpPr txBox="1"/>
          <p:nvPr>
            <p:ph idx="1" type="body"/>
          </p:nvPr>
        </p:nvSpPr>
        <p:spPr>
          <a:xfrm>
            <a:off x="311700" y="3142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sz="1050">
                <a:latin typeface="Consolas"/>
                <a:ea typeface="Consolas"/>
                <a:cs typeface="Consolas"/>
                <a:sym typeface="Consolas"/>
              </a:rPr>
              <a:t>traceroute berkeley.edu</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traceroute: Warning: berkeley.edu has multiple addresses; using 141.193.213.20</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traceroute to berkeley.edu (141.193.213.20), 64 hops max, 40 byte packets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1  sut-mdc-sr9--ae0-558.net.berkeley.edu (10.40.232.2)  6.154 ms  10.428 ms  7.135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2  sut-mdc-cr1--xe-2-1-13.net.berkeley.edu (128.32.255.96)  16.284 ms  19.354 ms  7.312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3  reccev-cev-cr2--et-0-2-8.net.berkeley.edu (128.32.255.177)  5.652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sut-mdc-cr2--et-0-2-8.net.berkeley.edu (128.32.255.41)  10.454 ms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4  * * *</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5  * sut-mdc-fw9--xe-0-0-1-3.net.berkeley.edu (128.32.255.143)  6.366 ms  5.512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6  reccev-cev-sr1--xe-0-1-1-0-2.net.berkeley.edu (128.32.255.140)  5.309 ms  4.949 ms  5.388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7  reccev-cev-sr1--lt-0-1-0-0.net.berkeley.edu (128.32.255.166)  4.160 ms  5.037 ms  4.338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8  reccev-cev-cr2--et-0-0-0-3.net.berkeley.edu (128.32.255.74)  5.742 ms  9.072 ms  7.551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9  sut-mdc-cr1--et-0-1-0.net.berkeley.edu (128.32.255.40)  7.412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sut-mdc-cr1--et-0-1-5.net.berkeley.edu (128.32.255.176)  5.063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reccev-cev-cr1--et-0-1-0.net.berkeley.edu (128.32.255.174)  6.135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10  reccev-cev-br1--et-1-1-1.net.berkeley.edu (128.32.0.38)  4.994 ms  5.771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reccev-cev-br1--et-1-1-0.net.berkeley.edu (128.32.0.36)  5.349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11  emvl1-agg-01--ucb--100g.cenic.net (137.164.3.26)  9.055 ms  5.400 ms  5.872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12  svl-agg10--emvl1-agg-01--400g--01.cenic.net (137.164.11.94)  9.312 ms  9.272 ms  8.780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13  198.32.251.193 (198.32.251.193)  18.352 ms *  33.886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14  172.68.188.80 (172.68.188.80)  10.743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172.68.188.94 (172.68.188.94)  10.407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	172.68.188.80 (172.68.188.80)  26.217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rPr lang="en" sz="1050">
                <a:latin typeface="Consolas"/>
                <a:ea typeface="Consolas"/>
                <a:cs typeface="Consolas"/>
                <a:sym typeface="Consolas"/>
              </a:rPr>
              <a:t>15  141.193.213.20 (141.193.213.20)  8.597 ms  9.852 ms  8.677 ms</a:t>
            </a:r>
            <a:endParaRPr sz="1050">
              <a:latin typeface="Consolas"/>
              <a:ea typeface="Consolas"/>
              <a:cs typeface="Consolas"/>
              <a:sym typeface="Consolas"/>
            </a:endParaRPr>
          </a:p>
          <a:p>
            <a:pPr indent="0" lvl="0" marL="0" rtl="0" algn="l">
              <a:lnSpc>
                <a:spcPct val="115000"/>
              </a:lnSpc>
              <a:spcBef>
                <a:spcPts val="0"/>
              </a:spcBef>
              <a:spcAft>
                <a:spcPts val="0"/>
              </a:spcAft>
              <a:buSzPts val="2000"/>
              <a:buNone/>
            </a:pPr>
            <a:r>
              <a:t/>
            </a:r>
            <a:endParaRPr sz="1050">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28f0a7e353_1_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Traceroute: Notice anything?</a:t>
            </a:r>
            <a:endParaRPr b="0" i="0" sz="3000" u="none" cap="none" strike="noStrike">
              <a:solidFill>
                <a:srgbClr val="0C343D"/>
              </a:solidFill>
              <a:latin typeface="Francois One"/>
              <a:ea typeface="Francois One"/>
              <a:cs typeface="Francois One"/>
              <a:sym typeface="Francois One"/>
            </a:endParaRPr>
          </a:p>
        </p:txBody>
      </p:sp>
      <p:sp>
        <p:nvSpPr>
          <p:cNvPr id="248" name="Google Shape;248;g328f0a7e353_1_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Traceroute gives us a lot more interesting feedback than ping.</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Latency to </a:t>
            </a:r>
            <a:r>
              <a:rPr b="0" i="1" lang="en" sz="2000" u="none" cap="none" strike="noStrike">
                <a:solidFill>
                  <a:srgbClr val="0C343D"/>
                </a:solidFill>
                <a:latin typeface="Arial"/>
                <a:ea typeface="Arial"/>
                <a:cs typeface="Arial"/>
                <a:sym typeface="Arial"/>
              </a:rPr>
              <a:t>every </a:t>
            </a:r>
            <a:r>
              <a:rPr b="0" i="0" lang="en" sz="2000" u="none" cap="none" strike="noStrike">
                <a:solidFill>
                  <a:srgbClr val="0C343D"/>
                </a:solidFill>
                <a:latin typeface="Arial"/>
                <a:ea typeface="Arial"/>
                <a:cs typeface="Arial"/>
                <a:sym typeface="Arial"/>
              </a:rPr>
              <a:t>step along the way.</a:t>
            </a:r>
            <a:endParaRPr b="0" i="0" sz="2000" u="none" cap="none" strike="noStrike">
              <a:solidFill>
                <a:srgbClr val="0C343D"/>
              </a:solidFill>
              <a:latin typeface="Arial"/>
              <a:ea typeface="Arial"/>
              <a:cs typeface="Arial"/>
              <a:sym typeface="Arial"/>
            </a:endParaRPr>
          </a:p>
          <a:p>
            <a:pPr indent="-355600" lvl="2" marL="13716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Can see a breakdown of latencies!</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Router names.</a:t>
            </a:r>
            <a:endParaRPr b="0" i="0" sz="2000" u="none" cap="none" strike="noStrike">
              <a:solidFill>
                <a:srgbClr val="0C343D"/>
              </a:solidFill>
              <a:latin typeface="Arial"/>
              <a:ea typeface="Arial"/>
              <a:cs typeface="Arial"/>
              <a:sym typeface="Arial"/>
            </a:endParaRPr>
          </a:p>
          <a:p>
            <a:pPr indent="-355600" lvl="2" marL="13716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Often have locations in them (i.e. city name)</a:t>
            </a:r>
            <a:endParaRPr b="0" i="0" sz="2000" u="none" cap="none" strike="noStrike">
              <a:solidFill>
                <a:srgbClr val="0C343D"/>
              </a:solidFill>
              <a:latin typeface="Arial"/>
              <a:ea typeface="Arial"/>
              <a:cs typeface="Arial"/>
              <a:sym typeface="Arial"/>
            </a:endParaRPr>
          </a:p>
          <a:p>
            <a:pPr indent="-355600" lvl="2" marL="13716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Can roughly trace packet path on a map!</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Weird stars</a:t>
            </a:r>
            <a:endParaRPr b="0" i="0" sz="2000" u="none" cap="none" strike="noStrike">
              <a:solidFill>
                <a:srgbClr val="0C343D"/>
              </a:solidFill>
              <a:latin typeface="Arial"/>
              <a:ea typeface="Arial"/>
              <a:cs typeface="Arial"/>
              <a:sym typeface="Arial"/>
            </a:endParaRPr>
          </a:p>
          <a:p>
            <a:pPr indent="-355600" lvl="2" marL="13716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Some routers just don’t respond ⁻\_(ツ)_/⁻</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28f0a7e353_1_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EFEFEF"/>
                </a:solidFill>
                <a:latin typeface="Francois One"/>
                <a:ea typeface="Francois One"/>
                <a:cs typeface="Francois One"/>
                <a:sym typeface="Francois One"/>
              </a:rPr>
              <a:t>Ping, Traceroute, </a:t>
            </a:r>
            <a:r>
              <a:rPr b="0" i="0" lang="en" sz="3000" u="none" cap="none" strike="noStrike">
                <a:solidFill>
                  <a:srgbClr val="0C343D"/>
                </a:solidFill>
                <a:latin typeface="Francois One"/>
                <a:ea typeface="Francois One"/>
                <a:cs typeface="Francois One"/>
                <a:sym typeface="Francois One"/>
              </a:rPr>
              <a:t>Dig</a:t>
            </a:r>
            <a:endParaRPr b="0" i="0" sz="3000" u="none" cap="none" strike="noStrike">
              <a:solidFill>
                <a:srgbClr val="0C343D"/>
              </a:solidFill>
              <a:latin typeface="Francois One"/>
              <a:ea typeface="Francois One"/>
              <a:cs typeface="Francois One"/>
              <a:sym typeface="Francois One"/>
            </a:endParaRPr>
          </a:p>
        </p:txBody>
      </p:sp>
      <p:sp>
        <p:nvSpPr>
          <p:cNvPr id="254" name="Google Shape;254;g328f0a7e353_1_10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When humans want to go to a website, we think in terms of names</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i.e. google.com</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The internet does not think this way, it thinks in terms of </a:t>
            </a:r>
            <a:r>
              <a:rPr b="0" i="1" lang="en" sz="2000" u="none" cap="none" strike="noStrike">
                <a:solidFill>
                  <a:srgbClr val="0C343D"/>
                </a:solidFill>
                <a:latin typeface="Arial"/>
                <a:ea typeface="Arial"/>
                <a:cs typeface="Arial"/>
                <a:sym typeface="Arial"/>
              </a:rPr>
              <a:t>addresses</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i.e. “1.2.3.4”</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It’s like the postal service</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You wouldn’t just write “To: Alice” on a letter</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You would look up Alice’s address in some directory</a:t>
            </a:r>
            <a:endParaRPr b="0" i="0" sz="2000" u="none" cap="none" strike="noStrike">
              <a:solidFill>
                <a:srgbClr val="0C343D"/>
              </a:solidFill>
              <a:latin typeface="Arial"/>
              <a:ea typeface="Arial"/>
              <a:cs typeface="Arial"/>
              <a:sym typeface="Arial"/>
            </a:endParaRPr>
          </a:p>
          <a:p>
            <a:pPr indent="-355600" lvl="2" marL="13716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Then mail the letter to her address </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Dig lets you lookup the address of a website by its name</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Command line interface to the Domain Name Service (DNS)</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28f0a7e353_1_1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0C343D"/>
                </a:solidFill>
                <a:latin typeface="Francois One"/>
                <a:ea typeface="Francois One"/>
                <a:cs typeface="Francois One"/>
                <a:sym typeface="Francois One"/>
              </a:rPr>
              <a:t>Dig: A breakdown</a:t>
            </a:r>
            <a:endParaRPr b="0" i="0" sz="3000" u="none" cap="none" strike="noStrike">
              <a:solidFill>
                <a:srgbClr val="0C343D"/>
              </a:solidFill>
              <a:latin typeface="Francois One"/>
              <a:ea typeface="Francois One"/>
              <a:cs typeface="Francois One"/>
              <a:sym typeface="Francois One"/>
            </a:endParaRPr>
          </a:p>
        </p:txBody>
      </p:sp>
      <p:sp>
        <p:nvSpPr>
          <p:cNvPr id="260" name="Google Shape;260;g328f0a7e353_1_1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When using the +trace option, there was a lot more information</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We could see the steps that were taken when resolving the names</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First, the ‘root’ servers were queried</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Then, the TLD (top level domain) server was queried</a:t>
            </a:r>
            <a:endParaRPr b="0" i="0" sz="2000" u="none" cap="none" strike="noStrike">
              <a:solidFill>
                <a:srgbClr val="0C343D"/>
              </a:solidFill>
              <a:latin typeface="Arial"/>
              <a:ea typeface="Arial"/>
              <a:cs typeface="Arial"/>
              <a:sym typeface="Arial"/>
            </a:endParaRPr>
          </a:p>
          <a:p>
            <a:pPr indent="-355600" lvl="1" marL="9144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After that, successive servers were asked until the IP was found</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Clr>
                <a:srgbClr val="0C343D"/>
              </a:buClr>
              <a:buSzPts val="2000"/>
              <a:buFont typeface="Arial"/>
              <a:buChar char="●"/>
            </a:pPr>
            <a:r>
              <a:rPr b="0" i="0" lang="en" sz="2000" u="none" cap="none" strike="noStrike">
                <a:solidFill>
                  <a:srgbClr val="0C343D"/>
                </a:solidFill>
                <a:latin typeface="Arial"/>
                <a:ea typeface="Arial"/>
                <a:cs typeface="Arial"/>
                <a:sym typeface="Arial"/>
              </a:rPr>
              <a:t>More on how this works when we discuss DNS</a:t>
            </a:r>
            <a:endParaRPr b="0" i="0" sz="2000" u="none" cap="none" strike="noStrike">
              <a:solidFill>
                <a:srgbClr val="0C343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28f0a7e353_1_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C343D"/>
              </a:buClr>
              <a:buSzPts val="3000"/>
              <a:buFont typeface="Francois One"/>
              <a:buNone/>
            </a:pPr>
            <a:r>
              <a:rPr b="0" i="0" lang="en" sz="3000" u="none" cap="none" strike="noStrike">
                <a:solidFill>
                  <a:srgbClr val="EFEFEF"/>
                </a:solidFill>
                <a:latin typeface="Francois One"/>
                <a:ea typeface="Francois One"/>
                <a:cs typeface="Francois One"/>
                <a:sym typeface="Francois One"/>
              </a:rPr>
              <a:t>Ping, Traceroute, </a:t>
            </a:r>
            <a:r>
              <a:rPr b="0" i="0" lang="en" sz="3000" u="none" cap="none" strike="noStrike">
                <a:solidFill>
                  <a:srgbClr val="0C343D"/>
                </a:solidFill>
                <a:latin typeface="Francois One"/>
                <a:ea typeface="Francois One"/>
                <a:cs typeface="Francois One"/>
                <a:sym typeface="Francois One"/>
              </a:rPr>
              <a:t>Dig</a:t>
            </a:r>
            <a:endParaRPr b="0" i="0" sz="3000" u="none" cap="none" strike="noStrike">
              <a:solidFill>
                <a:srgbClr val="0C343D"/>
              </a:solidFill>
              <a:latin typeface="Francois One"/>
              <a:ea typeface="Francois One"/>
              <a:cs typeface="Francois One"/>
              <a:sym typeface="Francois One"/>
            </a:endParaRPr>
          </a:p>
        </p:txBody>
      </p:sp>
      <p:sp>
        <p:nvSpPr>
          <p:cNvPr id="266" name="Google Shape;266;g328f0a7e353_1_10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2000"/>
              <a:buNone/>
            </a:pPr>
            <a:r>
              <a:rPr b="0" i="0" lang="en" sz="2000" u="none" cap="none" strike="noStrike">
                <a:solidFill>
                  <a:srgbClr val="0C343D"/>
                </a:solidFill>
                <a:latin typeface="Arial"/>
                <a:ea typeface="Arial"/>
                <a:cs typeface="Arial"/>
                <a:sym typeface="Arial"/>
              </a:rPr>
              <a:t>Demo</a:t>
            </a:r>
            <a:endParaRPr b="0" i="0" sz="2000" u="none" cap="none" strike="noStrike">
              <a:solidFill>
                <a:srgbClr val="0C343D"/>
              </a:solidFill>
              <a:latin typeface="Arial"/>
              <a:ea typeface="Arial"/>
              <a:cs typeface="Arial"/>
              <a:sym typeface="Arial"/>
            </a:endParaRPr>
          </a:p>
          <a:p>
            <a:pPr indent="-355600" lvl="0" marL="457200" marR="0" rtl="0" algn="l">
              <a:lnSpc>
                <a:spcPct val="115000"/>
              </a:lnSpc>
              <a:spcBef>
                <a:spcPts val="0"/>
              </a:spcBef>
              <a:spcAft>
                <a:spcPts val="0"/>
              </a:spcAft>
              <a:buSzPts val="2000"/>
              <a:buChar char="●"/>
            </a:pPr>
            <a:r>
              <a:rPr lang="en"/>
              <a:t>berkeley.edu</a:t>
            </a:r>
            <a:endParaRPr/>
          </a:p>
          <a:p>
            <a:pPr indent="-355600" lvl="0" marL="457200" marR="0" rtl="0" algn="l">
              <a:lnSpc>
                <a:spcPct val="115000"/>
              </a:lnSpc>
              <a:spcBef>
                <a:spcPts val="0"/>
              </a:spcBef>
              <a:spcAft>
                <a:spcPts val="0"/>
              </a:spcAft>
              <a:buSzPts val="2000"/>
              <a:buChar char="●"/>
            </a:pPr>
            <a:r>
              <a:rPr lang="en"/>
              <a:t>google.com</a:t>
            </a:r>
            <a:endParaRPr/>
          </a:p>
          <a:p>
            <a:pPr indent="-355600" lvl="0" marL="457200" marR="0" rtl="0" algn="l">
              <a:lnSpc>
                <a:spcPct val="115000"/>
              </a:lnSpc>
              <a:spcBef>
                <a:spcPts val="0"/>
              </a:spcBef>
              <a:spcAft>
                <a:spcPts val="0"/>
              </a:spcAft>
              <a:buSzPts val="2000"/>
              <a:buChar char="●"/>
            </a:pPr>
            <a:r>
              <a:rPr lang="en"/>
              <a:t>csail.mit.edu (MIT’s CS department)</a:t>
            </a:r>
            <a:endParaRPr/>
          </a:p>
          <a:p>
            <a:pPr indent="-355600" lvl="0" marL="457200" marR="0" rtl="0" algn="l">
              <a:lnSpc>
                <a:spcPct val="115000"/>
              </a:lnSpc>
              <a:spcBef>
                <a:spcPts val="0"/>
              </a:spcBef>
              <a:spcAft>
                <a:spcPts val="0"/>
              </a:spcAft>
              <a:buSzPts val="2000"/>
              <a:buChar char="●"/>
            </a:pPr>
            <a:r>
              <a:rPr lang="en"/>
              <a:t>ford.com (Ford, a car company headquartered in Michigan)</a:t>
            </a:r>
            <a:endParaRPr/>
          </a:p>
          <a:p>
            <a:pPr indent="-355600" lvl="0" marL="457200" rtl="0" algn="l">
              <a:lnSpc>
                <a:spcPct val="115000"/>
              </a:lnSpc>
              <a:spcBef>
                <a:spcPts val="0"/>
              </a:spcBef>
              <a:spcAft>
                <a:spcPts val="0"/>
              </a:spcAft>
              <a:buSzPts val="2000"/>
              <a:buChar char="●"/>
            </a:pPr>
            <a:r>
              <a:rPr lang="en"/>
              <a:t>lmu.de (University of Munich)</a:t>
            </a:r>
            <a:endParaRPr/>
          </a:p>
          <a:p>
            <a:pPr indent="-355600" lvl="0" marL="457200" marR="0" rtl="0" algn="l">
              <a:lnSpc>
                <a:spcPct val="115000"/>
              </a:lnSpc>
              <a:spcBef>
                <a:spcPts val="0"/>
              </a:spcBef>
              <a:spcAft>
                <a:spcPts val="0"/>
              </a:spcAft>
              <a:buSzPts val="2000"/>
              <a:buChar char="●"/>
            </a:pPr>
            <a:r>
              <a:rPr lang="en"/>
              <a:t>unam.edu.na (University of Namibia)</a:t>
            </a:r>
            <a:endParaRPr/>
          </a:p>
          <a:p>
            <a:pPr indent="0" lvl="0" marL="0" marR="0" rtl="0" algn="l">
              <a:lnSpc>
                <a:spcPct val="115000"/>
              </a:lnSpc>
              <a:spcBef>
                <a:spcPts val="0"/>
              </a:spcBef>
              <a:spcAft>
                <a:spcPts val="0"/>
              </a:spcAft>
              <a:buSzPts val="2000"/>
              <a:buNone/>
            </a:pPr>
            <a:r>
              <a:t/>
            </a:r>
            <a:endParaRPr/>
          </a:p>
          <a:p>
            <a:pPr indent="0" lvl="0" marL="0" marR="0" rtl="0" algn="l">
              <a:lnSpc>
                <a:spcPct val="115000"/>
              </a:lnSpc>
              <a:spcBef>
                <a:spcPts val="0"/>
              </a:spcBef>
              <a:spcAft>
                <a:spcPts val="0"/>
              </a:spcAft>
              <a:buSzPts val="2000"/>
              <a:buNone/>
            </a:pPr>
            <a:r>
              <a:rPr lang="en"/>
              <a:t>(optionally see approximate physical location at https://www.iplocation.net/)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28f0a7e353_1_1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Bonus: What’s your IP Address?</a:t>
            </a:r>
            <a:endParaRPr/>
          </a:p>
        </p:txBody>
      </p:sp>
      <p:sp>
        <p:nvSpPr>
          <p:cNvPr id="272" name="Google Shape;272;g328f0a7e353_1_1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On a Mac, go to System Preferences -&gt; Network -&gt; Advanced -&gt; TCP/IP:</a:t>
            </a:r>
            <a:endParaRPr/>
          </a:p>
        </p:txBody>
      </p:sp>
      <p:pic>
        <p:nvPicPr>
          <p:cNvPr id="273" name="Google Shape;273;g328f0a7e353_1_110"/>
          <p:cNvPicPr preferRelativeResize="0"/>
          <p:nvPr/>
        </p:nvPicPr>
        <p:blipFill rotWithShape="1">
          <a:blip r:embed="rId3">
            <a:alphaModFix/>
          </a:blip>
          <a:srcRect b="0" l="0" r="0" t="0"/>
          <a:stretch/>
        </p:blipFill>
        <p:spPr>
          <a:xfrm>
            <a:off x="2387303" y="1633900"/>
            <a:ext cx="4369400" cy="3372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8599867c14_0_165"/>
          <p:cNvSpPr txBox="1"/>
          <p:nvPr>
            <p:ph type="title"/>
          </p:nvPr>
        </p:nvSpPr>
        <p:spPr>
          <a:xfrm>
            <a:off x="645900" y="155175"/>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Questions?</a:t>
            </a:r>
            <a:endParaRPr/>
          </a:p>
        </p:txBody>
      </p:sp>
      <p:sp>
        <p:nvSpPr>
          <p:cNvPr id="279" name="Google Shape;279;g28599867c14_0_165"/>
          <p:cNvSpPr txBox="1"/>
          <p:nvPr/>
        </p:nvSpPr>
        <p:spPr>
          <a:xfrm>
            <a:off x="2616375" y="1134400"/>
            <a:ext cx="398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222222"/>
                </a:solidFill>
                <a:latin typeface="Francois One"/>
                <a:ea typeface="Francois One"/>
                <a:cs typeface="Francois One"/>
                <a:sym typeface="Francois One"/>
              </a:rPr>
              <a:t>Feedback Form:</a:t>
            </a:r>
            <a:r>
              <a:rPr lang="en">
                <a:solidFill>
                  <a:srgbClr val="222222"/>
                </a:solidFill>
                <a:latin typeface="Francois One"/>
                <a:ea typeface="Francois One"/>
                <a:cs typeface="Francois One"/>
                <a:sym typeface="Francois One"/>
              </a:rPr>
              <a:t> </a:t>
            </a:r>
            <a:r>
              <a:rPr lang="en" u="sng">
                <a:solidFill>
                  <a:srgbClr val="222222"/>
                </a:solidFill>
                <a:latin typeface="Francois One"/>
                <a:ea typeface="Francois One"/>
                <a:cs typeface="Francois One"/>
                <a:sym typeface="Francois One"/>
                <a:hlinkClick r:id="rId3">
                  <a:extLst>
                    <a:ext uri="{A12FA001-AC4F-418D-AE19-62706E023703}">
                      <ahyp:hlinkClr val="tx"/>
                    </a:ext>
                  </a:extLst>
                </a:hlinkClick>
              </a:rPr>
              <a:t>https://tinyurl.com/cs168-sp25-dis</a:t>
            </a:r>
            <a:endParaRPr b="0" i="0" sz="1400" u="sng" cap="none" strike="noStrike">
              <a:solidFill>
                <a:srgbClr val="222222"/>
              </a:solidFill>
              <a:latin typeface="Francois One"/>
              <a:ea typeface="Francois One"/>
              <a:cs typeface="Francois One"/>
              <a:sym typeface="Francois One"/>
            </a:endParaRPr>
          </a:p>
        </p:txBody>
      </p:sp>
      <p:pic>
        <p:nvPicPr>
          <p:cNvPr id="280" name="Google Shape;280;g28599867c14_0_165"/>
          <p:cNvPicPr preferRelativeResize="0"/>
          <p:nvPr/>
        </p:nvPicPr>
        <p:blipFill>
          <a:blip r:embed="rId4">
            <a:alphaModFix/>
          </a:blip>
          <a:stretch>
            <a:fillRect/>
          </a:stretch>
        </p:blipFill>
        <p:spPr>
          <a:xfrm>
            <a:off x="2958875" y="1652825"/>
            <a:ext cx="3304100" cy="3304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